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Garet" charset="1" panose="00000000000000000000"/>
      <p:regular r:id="rId31"/>
    </p:embeddedFont>
    <p:embeddedFont>
      <p:font typeface="Garet Bold" charset="1" panose="00000000000000000000"/>
      <p:regular r:id="rId32"/>
    </p:embeddedFont>
    <p:embeddedFont>
      <p:font typeface="Poppins Bold" charset="1" panose="00000800000000000000"/>
      <p:regular r:id="rId33"/>
    </p:embeddedFont>
    <p:embeddedFont>
      <p:font typeface="Lato" charset="1" panose="020F0502020204030203"/>
      <p:regular r:id="rId34"/>
    </p:embeddedFont>
    <p:embeddedFont>
      <p:font typeface="Canva Sans" charset="1" panose="020B0503030501040103"/>
      <p:regular r:id="rId35"/>
    </p:embeddedFont>
    <p:embeddedFont>
      <p:font typeface="Canva Sans Bold" charset="1" panose="020B0803030501040103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65300" y="-84714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0407285">
            <a:off x="-5411084" y="-188170"/>
            <a:ext cx="10371714" cy="1037171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940833" y="4782676"/>
            <a:ext cx="636934" cy="636934"/>
          </a:xfrm>
          <a:custGeom>
            <a:avLst/>
            <a:gdLst/>
            <a:ahLst/>
            <a:cxnLst/>
            <a:rect r="r" b="b" t="t" l="l"/>
            <a:pathLst>
              <a:path h="636934" w="636934">
                <a:moveTo>
                  <a:pt x="0" y="0"/>
                </a:moveTo>
                <a:lnTo>
                  <a:pt x="636934" y="0"/>
                </a:lnTo>
                <a:lnTo>
                  <a:pt x="636934" y="636934"/>
                </a:lnTo>
                <a:lnTo>
                  <a:pt x="0" y="636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169244">
            <a:off x="10615960" y="1141273"/>
            <a:ext cx="5805812" cy="3708463"/>
          </a:xfrm>
          <a:custGeom>
            <a:avLst/>
            <a:gdLst/>
            <a:ahLst/>
            <a:cxnLst/>
            <a:rect r="r" b="b" t="t" l="l"/>
            <a:pathLst>
              <a:path h="3708463" w="5805812">
                <a:moveTo>
                  <a:pt x="0" y="0"/>
                </a:moveTo>
                <a:lnTo>
                  <a:pt x="5805813" y="0"/>
                </a:lnTo>
                <a:lnTo>
                  <a:pt x="5805813" y="3708463"/>
                </a:lnTo>
                <a:lnTo>
                  <a:pt x="0" y="3708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31673" y="5513637"/>
            <a:ext cx="6027627" cy="3744663"/>
          </a:xfrm>
          <a:custGeom>
            <a:avLst/>
            <a:gdLst/>
            <a:ahLst/>
            <a:cxnLst/>
            <a:rect r="r" b="b" t="t" l="l"/>
            <a:pathLst>
              <a:path h="3744663" w="6027627">
                <a:moveTo>
                  <a:pt x="0" y="0"/>
                </a:moveTo>
                <a:lnTo>
                  <a:pt x="6027627" y="0"/>
                </a:lnTo>
                <a:lnTo>
                  <a:pt x="6027627" y="3744663"/>
                </a:lnTo>
                <a:lnTo>
                  <a:pt x="0" y="3744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355097">
            <a:off x="14624430" y="3633086"/>
            <a:ext cx="1999086" cy="914582"/>
          </a:xfrm>
          <a:custGeom>
            <a:avLst/>
            <a:gdLst/>
            <a:ahLst/>
            <a:cxnLst/>
            <a:rect r="r" b="b" t="t" l="l"/>
            <a:pathLst>
              <a:path h="914582" w="1999086">
                <a:moveTo>
                  <a:pt x="0" y="0"/>
                </a:moveTo>
                <a:lnTo>
                  <a:pt x="1999086" y="0"/>
                </a:lnTo>
                <a:lnTo>
                  <a:pt x="1999086" y="914582"/>
                </a:lnTo>
                <a:lnTo>
                  <a:pt x="0" y="914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67558" y="2095184"/>
            <a:ext cx="8529342" cy="164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89"/>
              </a:lnSpc>
              <a:spcBef>
                <a:spcPct val="0"/>
              </a:spcBef>
            </a:pPr>
            <a:r>
              <a:rPr lang="en-US" sz="9635" spc="-443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SI</a:t>
            </a:r>
            <a:r>
              <a:rPr lang="en-US" sz="9635" spc="-443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MULATEUR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7558" y="3398631"/>
            <a:ext cx="9199064" cy="13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90"/>
              </a:lnSpc>
              <a:spcBef>
                <a:spcPct val="0"/>
              </a:spcBef>
            </a:pPr>
            <a:r>
              <a:rPr lang="en-US" b="true" sz="8136" spc="-374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MOTOROLA 6809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5835" y="7767205"/>
            <a:ext cx="4132080" cy="35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  <a:spcBef>
                <a:spcPct val="0"/>
              </a:spcBef>
            </a:pPr>
            <a:r>
              <a:rPr lang="en-US" b="true" sz="2136" spc="-98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www.reallygreatisite.com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7558" y="4994399"/>
            <a:ext cx="3507693" cy="7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Realiser par 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7558" y="5868000"/>
            <a:ext cx="6532008" cy="6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SOMATI Samia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7558" y="6661726"/>
            <a:ext cx="3772943" cy="7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Encadrer par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7558" y="7531651"/>
            <a:ext cx="7252095" cy="6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Prof Dr. BENALLA Hicham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97131" y="5933354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50385" y="770952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0" y="0"/>
                </a:lnTo>
                <a:lnTo>
                  <a:pt x="4017830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070360" y="8863664"/>
            <a:ext cx="1188940" cy="29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33611" y="1905805"/>
            <a:ext cx="5420778" cy="106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sz="6217" spc="-28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OBJ</a:t>
            </a:r>
            <a:r>
              <a:rPr lang="en-US" sz="6217" spc="-28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ECTIFS DU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42948" y="2727566"/>
            <a:ext cx="4626067" cy="106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b="true" sz="6217" spc="-28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PROJET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34210" y="8863664"/>
            <a:ext cx="3303490" cy="29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b="true" sz="1777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www.reallygreatisite.com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79719" y="4441111"/>
            <a:ext cx="986337" cy="619092"/>
            <a:chOff x="0" y="0"/>
            <a:chExt cx="1315116" cy="82545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049315" y="4456664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</a:pPr>
            <a:r>
              <a:rPr lang="en-US" sz="2650" spc="-121" b="tru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Assembler un code 6809 (directives + labels)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49315" y="5368009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Charger en ROM + vecteur RESET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879719" y="5229576"/>
            <a:ext cx="986337" cy="619092"/>
            <a:chOff x="0" y="0"/>
            <a:chExt cx="1315116" cy="82545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879719" y="6018041"/>
            <a:ext cx="986337" cy="619092"/>
            <a:chOff x="0" y="0"/>
            <a:chExt cx="1315116" cy="82545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879719" y="6806506"/>
            <a:ext cx="986337" cy="619092"/>
            <a:chOff x="0" y="0"/>
            <a:chExt cx="1315116" cy="82545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049315" y="6156474"/>
            <a:ext cx="8841554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Exécuter (Run / Step) + cycles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49315" y="6944939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Observer registres, flags, RAM/ROM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879719" y="7625623"/>
            <a:ext cx="986337" cy="619092"/>
            <a:chOff x="0" y="0"/>
            <a:chExt cx="1315116" cy="825456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049315" y="7764056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Déboguer avec breakpoints + listing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22213" y="1714690"/>
            <a:ext cx="12043573" cy="7707887"/>
          </a:xfrm>
          <a:custGeom>
            <a:avLst/>
            <a:gdLst/>
            <a:ahLst/>
            <a:cxnLst/>
            <a:rect r="r" b="b" t="t" l="l"/>
            <a:pathLst>
              <a:path h="7707887" w="12043573">
                <a:moveTo>
                  <a:pt x="0" y="0"/>
                </a:moveTo>
                <a:lnTo>
                  <a:pt x="12043574" y="0"/>
                </a:lnTo>
                <a:lnTo>
                  <a:pt x="12043574" y="7707887"/>
                </a:lnTo>
                <a:lnTo>
                  <a:pt x="0" y="7707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070360" y="8863664"/>
            <a:ext cx="1188940" cy="29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30675" y="310581"/>
            <a:ext cx="4626650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7552" spc="-3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RÉSULTAT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517729">
            <a:off x="-2651647" y="104182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446068" y="4367181"/>
            <a:ext cx="4368330" cy="2438121"/>
            <a:chOff x="0" y="0"/>
            <a:chExt cx="2301013" cy="12842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1013" cy="1284278"/>
            </a:xfrm>
            <a:custGeom>
              <a:avLst/>
              <a:gdLst/>
              <a:ahLst/>
              <a:cxnLst/>
              <a:rect r="r" b="b" t="t" l="l"/>
              <a:pathLst>
                <a:path h="1284278" w="2301013">
                  <a:moveTo>
                    <a:pt x="2097813" y="0"/>
                  </a:moveTo>
                  <a:cubicBezTo>
                    <a:pt x="2210038" y="0"/>
                    <a:pt x="2301013" y="287495"/>
                    <a:pt x="2301013" y="642139"/>
                  </a:cubicBezTo>
                  <a:cubicBezTo>
                    <a:pt x="2301013" y="996782"/>
                    <a:pt x="2210038" y="1284278"/>
                    <a:pt x="2097813" y="1284278"/>
                  </a:cubicBezTo>
                  <a:lnTo>
                    <a:pt x="203200" y="1284278"/>
                  </a:lnTo>
                  <a:cubicBezTo>
                    <a:pt x="90976" y="1284278"/>
                    <a:pt x="0" y="996782"/>
                    <a:pt x="0" y="642139"/>
                  </a:cubicBezTo>
                  <a:cubicBezTo>
                    <a:pt x="0" y="287495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301013" cy="1312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75446" y="4976400"/>
            <a:ext cx="4368330" cy="1219683"/>
            <a:chOff x="0" y="0"/>
            <a:chExt cx="2301013" cy="642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1013" cy="642467"/>
            </a:xfrm>
            <a:custGeom>
              <a:avLst/>
              <a:gdLst/>
              <a:ahLst/>
              <a:cxnLst/>
              <a:rect r="r" b="b" t="t" l="l"/>
              <a:pathLst>
                <a:path h="642467" w="2301013">
                  <a:moveTo>
                    <a:pt x="2097813" y="0"/>
                  </a:moveTo>
                  <a:cubicBezTo>
                    <a:pt x="2210038" y="0"/>
                    <a:pt x="2301013" y="143821"/>
                    <a:pt x="2301013" y="321233"/>
                  </a:cubicBezTo>
                  <a:cubicBezTo>
                    <a:pt x="2301013" y="498646"/>
                    <a:pt x="2210038" y="642467"/>
                    <a:pt x="2097813" y="642467"/>
                  </a:cubicBezTo>
                  <a:lnTo>
                    <a:pt x="203200" y="642467"/>
                  </a:lnTo>
                  <a:cubicBezTo>
                    <a:pt x="90976" y="642467"/>
                    <a:pt x="0" y="498646"/>
                    <a:pt x="0" y="321233"/>
                  </a:cubicBezTo>
                  <a:cubicBezTo>
                    <a:pt x="0" y="143821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301013" cy="671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96500" y="3461160"/>
            <a:ext cx="4368330" cy="1219683"/>
            <a:chOff x="0" y="0"/>
            <a:chExt cx="2301013" cy="6424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1013" cy="642467"/>
            </a:xfrm>
            <a:custGeom>
              <a:avLst/>
              <a:gdLst/>
              <a:ahLst/>
              <a:cxnLst/>
              <a:rect r="r" b="b" t="t" l="l"/>
              <a:pathLst>
                <a:path h="642467" w="2301013">
                  <a:moveTo>
                    <a:pt x="2097813" y="0"/>
                  </a:moveTo>
                  <a:cubicBezTo>
                    <a:pt x="2210038" y="0"/>
                    <a:pt x="2301013" y="143821"/>
                    <a:pt x="2301013" y="321233"/>
                  </a:cubicBezTo>
                  <a:cubicBezTo>
                    <a:pt x="2301013" y="498646"/>
                    <a:pt x="2210038" y="642467"/>
                    <a:pt x="2097813" y="642467"/>
                  </a:cubicBezTo>
                  <a:lnTo>
                    <a:pt x="203200" y="642467"/>
                  </a:lnTo>
                  <a:cubicBezTo>
                    <a:pt x="90976" y="642467"/>
                    <a:pt x="0" y="498646"/>
                    <a:pt x="0" y="321233"/>
                  </a:cubicBezTo>
                  <a:cubicBezTo>
                    <a:pt x="0" y="143821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301013" cy="671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96500" y="4975777"/>
            <a:ext cx="4368330" cy="1219683"/>
            <a:chOff x="0" y="0"/>
            <a:chExt cx="2301013" cy="6424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1013" cy="642467"/>
            </a:xfrm>
            <a:custGeom>
              <a:avLst/>
              <a:gdLst/>
              <a:ahLst/>
              <a:cxnLst/>
              <a:rect r="r" b="b" t="t" l="l"/>
              <a:pathLst>
                <a:path h="642467" w="2301013">
                  <a:moveTo>
                    <a:pt x="2097813" y="0"/>
                  </a:moveTo>
                  <a:cubicBezTo>
                    <a:pt x="2210038" y="0"/>
                    <a:pt x="2301013" y="143821"/>
                    <a:pt x="2301013" y="321233"/>
                  </a:cubicBezTo>
                  <a:cubicBezTo>
                    <a:pt x="2301013" y="498646"/>
                    <a:pt x="2210038" y="642467"/>
                    <a:pt x="2097813" y="642467"/>
                  </a:cubicBezTo>
                  <a:lnTo>
                    <a:pt x="203200" y="642467"/>
                  </a:lnTo>
                  <a:cubicBezTo>
                    <a:pt x="90976" y="642467"/>
                    <a:pt x="0" y="498646"/>
                    <a:pt x="0" y="321233"/>
                  </a:cubicBezTo>
                  <a:cubicBezTo>
                    <a:pt x="0" y="143821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301013" cy="671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96500" y="6490395"/>
            <a:ext cx="4368330" cy="1219683"/>
            <a:chOff x="0" y="0"/>
            <a:chExt cx="2301013" cy="6424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01013" cy="642467"/>
            </a:xfrm>
            <a:custGeom>
              <a:avLst/>
              <a:gdLst/>
              <a:ahLst/>
              <a:cxnLst/>
              <a:rect r="r" b="b" t="t" l="l"/>
              <a:pathLst>
                <a:path h="642467" w="2301013">
                  <a:moveTo>
                    <a:pt x="2097813" y="0"/>
                  </a:moveTo>
                  <a:cubicBezTo>
                    <a:pt x="2210038" y="0"/>
                    <a:pt x="2301013" y="143821"/>
                    <a:pt x="2301013" y="321233"/>
                  </a:cubicBezTo>
                  <a:cubicBezTo>
                    <a:pt x="2301013" y="498646"/>
                    <a:pt x="2210038" y="642467"/>
                    <a:pt x="2097813" y="642467"/>
                  </a:cubicBezTo>
                  <a:lnTo>
                    <a:pt x="203200" y="642467"/>
                  </a:lnTo>
                  <a:cubicBezTo>
                    <a:pt x="90976" y="642467"/>
                    <a:pt x="0" y="498646"/>
                    <a:pt x="0" y="321233"/>
                  </a:cubicBezTo>
                  <a:cubicBezTo>
                    <a:pt x="0" y="143821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301013" cy="671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0800000">
            <a:off x="5183124" y="5300814"/>
            <a:ext cx="939067" cy="677585"/>
            <a:chOff x="0" y="0"/>
            <a:chExt cx="647700" cy="4673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7700" cy="467349"/>
            </a:xfrm>
            <a:custGeom>
              <a:avLst/>
              <a:gdLst/>
              <a:ahLst/>
              <a:cxnLst/>
              <a:rect r="r" b="b" t="t" l="l"/>
              <a:pathLst>
                <a:path h="467349" w="647700">
                  <a:moveTo>
                    <a:pt x="239386" y="165990"/>
                  </a:moveTo>
                  <a:lnTo>
                    <a:pt x="647700" y="165990"/>
                  </a:lnTo>
                  <a:lnTo>
                    <a:pt x="647700" y="301333"/>
                  </a:lnTo>
                  <a:lnTo>
                    <a:pt x="239373" y="301333"/>
                  </a:lnTo>
                  <a:lnTo>
                    <a:pt x="302255" y="467349"/>
                  </a:lnTo>
                  <a:lnTo>
                    <a:pt x="0" y="233675"/>
                  </a:lnTo>
                  <a:lnTo>
                    <a:pt x="302255" y="0"/>
                  </a:lnTo>
                  <a:lnTo>
                    <a:pt x="239386" y="16599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0650" y="136525"/>
              <a:ext cx="527050" cy="165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070360" y="8863664"/>
            <a:ext cx="1188940" cy="29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885825"/>
            <a:ext cx="7718469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7552" spc="-3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ALGORITHME DE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1806604"/>
            <a:ext cx="7209459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b="true" sz="7552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COMPILATION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74096" y="5214461"/>
            <a:ext cx="3712273" cy="66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4"/>
              </a:lnSpc>
              <a:spcBef>
                <a:spcPct val="0"/>
              </a:spcBef>
            </a:pPr>
            <a:r>
              <a:rPr lang="en-US" b="true" sz="3889" spc="-178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COMPILATION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5296836"/>
            <a:ext cx="4303763" cy="52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4"/>
              </a:lnSpc>
              <a:spcBef>
                <a:spcPct val="0"/>
              </a:spcBef>
            </a:pPr>
            <a:r>
              <a:rPr lang="en-US" b="true" sz="3089" spc="-142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TEXTE ASSEMBLEUR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85749" y="3781596"/>
            <a:ext cx="3589831" cy="52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4"/>
              </a:lnSpc>
              <a:spcBef>
                <a:spcPct val="0"/>
              </a:spcBef>
            </a:pPr>
            <a:r>
              <a:rPr lang="en-US" b="true" sz="3089" spc="-142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OCTETS MACHINE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85749" y="5122529"/>
            <a:ext cx="3589831" cy="977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4"/>
              </a:lnSpc>
              <a:spcBef>
                <a:spcPct val="0"/>
              </a:spcBef>
            </a:pPr>
            <a:r>
              <a:rPr lang="en-US" b="true" sz="2789" spc="-128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LISTING (PC + BYTES + SOURCE)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20225" y="6814585"/>
            <a:ext cx="3589831" cy="52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4"/>
              </a:lnSpc>
              <a:spcBef>
                <a:spcPct val="0"/>
              </a:spcBef>
            </a:pPr>
            <a:r>
              <a:rPr lang="en-US" b="true" sz="3089" spc="-142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ROM CHARGÉE</a:t>
            </a:r>
          </a:p>
        </p:txBody>
      </p:sp>
      <p:grpSp>
        <p:nvGrpSpPr>
          <p:cNvPr name="Group 32" id="32"/>
          <p:cNvGrpSpPr/>
          <p:nvPr/>
        </p:nvGrpSpPr>
        <p:grpSpPr>
          <a:xfrm rot="-10800000">
            <a:off x="11138275" y="5353986"/>
            <a:ext cx="939067" cy="677585"/>
            <a:chOff x="0" y="0"/>
            <a:chExt cx="647700" cy="46734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7700" cy="467349"/>
            </a:xfrm>
            <a:custGeom>
              <a:avLst/>
              <a:gdLst/>
              <a:ahLst/>
              <a:cxnLst/>
              <a:rect r="r" b="b" t="t" l="l"/>
              <a:pathLst>
                <a:path h="467349" w="647700">
                  <a:moveTo>
                    <a:pt x="239386" y="165990"/>
                  </a:moveTo>
                  <a:lnTo>
                    <a:pt x="647700" y="165990"/>
                  </a:lnTo>
                  <a:lnTo>
                    <a:pt x="647700" y="301333"/>
                  </a:lnTo>
                  <a:lnTo>
                    <a:pt x="239373" y="301333"/>
                  </a:lnTo>
                  <a:lnTo>
                    <a:pt x="302255" y="467349"/>
                  </a:lnTo>
                  <a:lnTo>
                    <a:pt x="0" y="233675"/>
                  </a:lnTo>
                  <a:lnTo>
                    <a:pt x="302255" y="0"/>
                  </a:lnTo>
                  <a:lnTo>
                    <a:pt x="239386" y="16599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0650" y="136525"/>
              <a:ext cx="527050" cy="165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10800000">
            <a:off x="11138275" y="3732208"/>
            <a:ext cx="939067" cy="677585"/>
            <a:chOff x="0" y="0"/>
            <a:chExt cx="647700" cy="46734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7700" cy="467349"/>
            </a:xfrm>
            <a:custGeom>
              <a:avLst/>
              <a:gdLst/>
              <a:ahLst/>
              <a:cxnLst/>
              <a:rect r="r" b="b" t="t" l="l"/>
              <a:pathLst>
                <a:path h="467349" w="647700">
                  <a:moveTo>
                    <a:pt x="239386" y="165990"/>
                  </a:moveTo>
                  <a:lnTo>
                    <a:pt x="647700" y="165990"/>
                  </a:lnTo>
                  <a:lnTo>
                    <a:pt x="647700" y="301333"/>
                  </a:lnTo>
                  <a:lnTo>
                    <a:pt x="239373" y="301333"/>
                  </a:lnTo>
                  <a:lnTo>
                    <a:pt x="302255" y="467349"/>
                  </a:lnTo>
                  <a:lnTo>
                    <a:pt x="0" y="233675"/>
                  </a:lnTo>
                  <a:lnTo>
                    <a:pt x="302255" y="0"/>
                  </a:lnTo>
                  <a:lnTo>
                    <a:pt x="239386" y="16599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20650" y="136525"/>
              <a:ext cx="527050" cy="165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10800000">
            <a:off x="11138275" y="6804680"/>
            <a:ext cx="939067" cy="677585"/>
            <a:chOff x="0" y="0"/>
            <a:chExt cx="647700" cy="46734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7700" cy="467349"/>
            </a:xfrm>
            <a:custGeom>
              <a:avLst/>
              <a:gdLst/>
              <a:ahLst/>
              <a:cxnLst/>
              <a:rect r="r" b="b" t="t" l="l"/>
              <a:pathLst>
                <a:path h="467349" w="647700">
                  <a:moveTo>
                    <a:pt x="239386" y="165990"/>
                  </a:moveTo>
                  <a:lnTo>
                    <a:pt x="647700" y="165990"/>
                  </a:lnTo>
                  <a:lnTo>
                    <a:pt x="647700" y="301333"/>
                  </a:lnTo>
                  <a:lnTo>
                    <a:pt x="239373" y="301333"/>
                  </a:lnTo>
                  <a:lnTo>
                    <a:pt x="302255" y="467349"/>
                  </a:lnTo>
                  <a:lnTo>
                    <a:pt x="0" y="233675"/>
                  </a:lnTo>
                  <a:lnTo>
                    <a:pt x="302255" y="0"/>
                  </a:lnTo>
                  <a:lnTo>
                    <a:pt x="239386" y="16599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20650" y="136525"/>
              <a:ext cx="527050" cy="165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51145" y="1028700"/>
            <a:ext cx="6313685" cy="6771198"/>
          </a:xfrm>
          <a:custGeom>
            <a:avLst/>
            <a:gdLst/>
            <a:ahLst/>
            <a:cxnLst/>
            <a:rect r="r" b="b" t="t" l="l"/>
            <a:pathLst>
              <a:path h="6771198" w="6313685">
                <a:moveTo>
                  <a:pt x="0" y="0"/>
                </a:moveTo>
                <a:lnTo>
                  <a:pt x="6313685" y="0"/>
                </a:lnTo>
                <a:lnTo>
                  <a:pt x="6313685" y="6771198"/>
                </a:lnTo>
                <a:lnTo>
                  <a:pt x="0" y="67711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38184" y="6599408"/>
            <a:ext cx="7791625" cy="2658892"/>
          </a:xfrm>
          <a:custGeom>
            <a:avLst/>
            <a:gdLst/>
            <a:ahLst/>
            <a:cxnLst/>
            <a:rect r="r" b="b" t="t" l="l"/>
            <a:pathLst>
              <a:path h="2658892" w="7791625">
                <a:moveTo>
                  <a:pt x="0" y="0"/>
                </a:moveTo>
                <a:lnTo>
                  <a:pt x="7791625" y="0"/>
                </a:lnTo>
                <a:lnTo>
                  <a:pt x="7791625" y="2658892"/>
                </a:lnTo>
                <a:lnTo>
                  <a:pt x="0" y="26588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70360" y="8863664"/>
            <a:ext cx="1188940" cy="29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15621"/>
            <a:ext cx="12106530" cy="217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3"/>
              </a:lnSpc>
            </a:pPr>
            <a:r>
              <a:rPr lang="en-US" b="true" sz="6217" spc="-28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LES TABLES CSV</a:t>
            </a:r>
          </a:p>
          <a:p>
            <a:pPr algn="l">
              <a:lnSpc>
                <a:spcPts val="870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04015" y="2554505"/>
            <a:ext cx="9025793" cy="298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Tables CSV ⟶ Opco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/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ze / Cycles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isé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par ⟶  Assem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ler et Decoder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Avan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age ⟶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hérence, pas de valeurs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od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ées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 e</a:t>
            </a:r>
            <a:r>
              <a:rPr lang="en-US" sz="3399" strike="noStrike" u="none">
                <a:solidFill>
                  <a:srgbClr val="F0F7FE"/>
                </a:solidFill>
                <a:latin typeface="Canva Sans"/>
                <a:ea typeface="Canva Sans"/>
                <a:cs typeface="Canva Sans"/>
                <a:sym typeface="Canva Sans"/>
              </a:rPr>
              <a:t>n dur</a:t>
            </a:r>
          </a:p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04015" y="310929"/>
            <a:ext cx="6723220" cy="106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sz="6217" spc="-28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INSTRU</a:t>
            </a:r>
            <a:r>
              <a:rPr lang="en-US" sz="6217" spc="-28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CTIONSET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517729">
            <a:off x="-2903692" y="-84714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1140" y="3309464"/>
            <a:ext cx="4368330" cy="771525"/>
            <a:chOff x="0" y="0"/>
            <a:chExt cx="5824440" cy="10287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824440" cy="1028700"/>
              <a:chOff x="0" y="0"/>
              <a:chExt cx="2301013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0101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301013">
                    <a:moveTo>
                      <a:pt x="2097813" y="0"/>
                    </a:moveTo>
                    <a:cubicBezTo>
                      <a:pt x="2210038" y="0"/>
                      <a:pt x="2301013" y="90976"/>
                      <a:pt x="2301013" y="203200"/>
                    </a:cubicBezTo>
                    <a:cubicBezTo>
                      <a:pt x="2301013" y="315424"/>
                      <a:pt x="2210038" y="406400"/>
                      <a:pt x="209781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2301013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1638924" cy="1028700"/>
              <a:chOff x="0" y="0"/>
              <a:chExt cx="647476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13763" y="200452"/>
              <a:ext cx="811398" cy="580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1140" y="6100851"/>
            <a:ext cx="4368330" cy="771525"/>
            <a:chOff x="0" y="0"/>
            <a:chExt cx="5824440" cy="10287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824440" cy="1028700"/>
              <a:chOff x="0" y="0"/>
              <a:chExt cx="2301013" cy="406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30101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301013">
                    <a:moveTo>
                      <a:pt x="2097813" y="0"/>
                    </a:moveTo>
                    <a:cubicBezTo>
                      <a:pt x="2210038" y="0"/>
                      <a:pt x="2301013" y="90976"/>
                      <a:pt x="2301013" y="203200"/>
                    </a:cubicBezTo>
                    <a:cubicBezTo>
                      <a:pt x="2301013" y="315424"/>
                      <a:pt x="2210038" y="406400"/>
                      <a:pt x="209781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2301013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1638924" cy="1028700"/>
              <a:chOff x="0" y="0"/>
              <a:chExt cx="647476" cy="406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13763" y="200452"/>
              <a:ext cx="811398" cy="580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534210" y="8863664"/>
            <a:ext cx="3303490" cy="29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b="true" sz="1777" spc="-81">
                <a:solidFill>
                  <a:srgbClr val="3C67BF"/>
                </a:solidFill>
                <a:latin typeface="Garet Bold"/>
                <a:ea typeface="Garet Bold"/>
                <a:cs typeface="Garet Bold"/>
                <a:sym typeface="Garet Bold"/>
              </a:rPr>
              <a:t>www.reallygreatisite.com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070360" y="8863664"/>
            <a:ext cx="1188940" cy="29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891696"/>
            <a:ext cx="7717191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7552" spc="-3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ASSEMBLAGE  EN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812475"/>
            <a:ext cx="8002468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b="true" sz="7552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2 PASSES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76767" y="3447918"/>
            <a:ext cx="3272563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Pass 1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76767" y="6239305"/>
            <a:ext cx="3272563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Pass 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435" y="4458431"/>
            <a:ext cx="9108529" cy="17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calcul PC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+ collecte labels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génération placeholders (tailles exactes)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83435" y="7253376"/>
            <a:ext cx="5157514" cy="238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rés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olution labels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patch offsets/valeurs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bytes finaux + listing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517729">
            <a:off x="-2903692" y="-84714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12568" y="3398678"/>
            <a:ext cx="986337" cy="619092"/>
            <a:chOff x="0" y="0"/>
            <a:chExt cx="1315116" cy="82545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91696"/>
            <a:ext cx="7717191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7552" spc="-3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PASS 1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12475"/>
            <a:ext cx="12835219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b="true" sz="7552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ANALYSE + PC + DIRECTIVES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2165" y="3414231"/>
            <a:ext cx="7803268" cy="91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</a:pPr>
            <a:r>
              <a:rPr lang="en-US" sz="2650" spc="-121" b="true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Nettoyage ligne (commentaires, espaces)</a:t>
            </a:r>
          </a:p>
          <a:p>
            <a:pPr algn="l">
              <a:lnSpc>
                <a:spcPts val="3711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282165" y="4325576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Détection : </a:t>
            </a:r>
            <a:r>
              <a:rPr lang="en-US" sz="2650" spc="-12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Label / Mnemonic / Operand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12568" y="4187143"/>
            <a:ext cx="986337" cy="619092"/>
            <a:chOff x="0" y="0"/>
            <a:chExt cx="1315116" cy="82545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2568" y="4975608"/>
            <a:ext cx="986337" cy="619092"/>
            <a:chOff x="0" y="0"/>
            <a:chExt cx="1315116" cy="82545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12568" y="5764074"/>
            <a:ext cx="986337" cy="619092"/>
            <a:chOff x="0" y="0"/>
            <a:chExt cx="1315116" cy="82545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282165" y="5114041"/>
            <a:ext cx="8841554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Gestion directives :</a:t>
            </a:r>
            <a:r>
              <a:rPr lang="en-US" sz="2650" spc="-12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ORG, RMB, FCB, FDB, EQU/SET, END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82165" y="5902506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Mise à jour du PC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517729">
            <a:off x="-2903692" y="-84714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12568" y="3398678"/>
            <a:ext cx="986337" cy="619092"/>
            <a:chOff x="0" y="0"/>
            <a:chExt cx="1315116" cy="82545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91696"/>
            <a:ext cx="7717191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7552" spc="-3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PASS 1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12475"/>
            <a:ext cx="12835219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b="true" sz="7552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PLACEHOLDERS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2165" y="3414231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Si valeur numérique → bytes direct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2165" y="4325576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Si label pas encore connu → 00 placeholders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12568" y="4187143"/>
            <a:ext cx="986337" cy="619092"/>
            <a:chOff x="0" y="0"/>
            <a:chExt cx="1315116" cy="82545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2568" y="4975608"/>
            <a:ext cx="986337" cy="619092"/>
            <a:chOff x="0" y="0"/>
            <a:chExt cx="1315116" cy="82545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12568" y="5764074"/>
            <a:ext cx="986337" cy="619092"/>
            <a:chOff x="0" y="0"/>
            <a:chExt cx="1315116" cy="82545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282165" y="5114041"/>
            <a:ext cx="8841554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Branch → placeholder offset (8/16)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82165" y="5902506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resultat : on a un size correcte dès Pass 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517729">
            <a:off x="-2903692" y="-84714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12568" y="3398678"/>
            <a:ext cx="986337" cy="619092"/>
            <a:chOff x="0" y="0"/>
            <a:chExt cx="1315116" cy="82545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91696"/>
            <a:ext cx="7717191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7552" spc="-3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PASS 2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12475"/>
            <a:ext cx="12835219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b="true" sz="7552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LABELS + BRANCHES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2165" y="3414231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Si valeur numérique → bytes direct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82165" y="4325576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Si label pas encore connu → 00 placeholders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12568" y="4187143"/>
            <a:ext cx="986337" cy="619092"/>
            <a:chOff x="0" y="0"/>
            <a:chExt cx="1315116" cy="82545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2568" y="4975608"/>
            <a:ext cx="986337" cy="619092"/>
            <a:chOff x="0" y="0"/>
            <a:chExt cx="1315116" cy="82545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12568" y="5764074"/>
            <a:ext cx="986337" cy="619092"/>
            <a:chOff x="0" y="0"/>
            <a:chExt cx="1315116" cy="82545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282165" y="5114041"/>
            <a:ext cx="8841554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Branch → placeholder offset (8/16)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282165" y="5902506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resultat : on a un size correcte dès Pass 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07065" y="1460655"/>
            <a:ext cx="7656633" cy="7193401"/>
            <a:chOff x="0" y="0"/>
            <a:chExt cx="2016562" cy="18945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6562" cy="1894558"/>
            </a:xfrm>
            <a:custGeom>
              <a:avLst/>
              <a:gdLst/>
              <a:ahLst/>
              <a:cxnLst/>
              <a:rect r="r" b="b" t="t" l="l"/>
              <a:pathLst>
                <a:path h="1894558" w="2016562">
                  <a:moveTo>
                    <a:pt x="0" y="0"/>
                  </a:moveTo>
                  <a:lnTo>
                    <a:pt x="2016562" y="0"/>
                  </a:lnTo>
                  <a:lnTo>
                    <a:pt x="2016562" y="1894558"/>
                  </a:lnTo>
                  <a:lnTo>
                    <a:pt x="0" y="1894558"/>
                  </a:lnTo>
                  <a:close/>
                </a:path>
              </a:pathLst>
            </a:custGeom>
            <a:solidFill>
              <a:srgbClr val="0A008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16562" cy="1923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271" y="2130094"/>
            <a:ext cx="4486694" cy="4395067"/>
            <a:chOff x="0" y="0"/>
            <a:chExt cx="1181681" cy="1157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1681" cy="1157549"/>
            </a:xfrm>
            <a:custGeom>
              <a:avLst/>
              <a:gdLst/>
              <a:ahLst/>
              <a:cxnLst/>
              <a:rect r="r" b="b" t="t" l="l"/>
              <a:pathLst>
                <a:path h="1157549" w="1181681">
                  <a:moveTo>
                    <a:pt x="0" y="0"/>
                  </a:moveTo>
                  <a:lnTo>
                    <a:pt x="1181681" y="0"/>
                  </a:lnTo>
                  <a:lnTo>
                    <a:pt x="1181681" y="1157549"/>
                  </a:lnTo>
                  <a:lnTo>
                    <a:pt x="0" y="1157549"/>
                  </a:lnTo>
                  <a:close/>
                </a:path>
              </a:pathLst>
            </a:custGeom>
            <a:solidFill>
              <a:srgbClr val="0A008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181681" cy="1186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20965" y="3158017"/>
            <a:ext cx="3086100" cy="2339221"/>
            <a:chOff x="0" y="0"/>
            <a:chExt cx="812800" cy="6160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616091"/>
            </a:xfrm>
            <a:custGeom>
              <a:avLst/>
              <a:gdLst/>
              <a:ahLst/>
              <a:cxnLst/>
              <a:rect r="r" b="b" t="t" l="l"/>
              <a:pathLst>
                <a:path h="616091" w="812800">
                  <a:moveTo>
                    <a:pt x="812800" y="308046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12891"/>
                  </a:lnTo>
                  <a:lnTo>
                    <a:pt x="406400" y="412891"/>
                  </a:lnTo>
                  <a:lnTo>
                    <a:pt x="406400" y="616091"/>
                  </a:lnTo>
                  <a:lnTo>
                    <a:pt x="812800" y="308046"/>
                  </a:ln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46050"/>
              <a:ext cx="711200" cy="266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7"/>
                </a:lnSpc>
              </a:pPr>
              <a:r>
                <a:rPr lang="en-US" b="true" sz="3477" spc="-159">
                  <a:solidFill>
                    <a:srgbClr val="0A008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PASS 1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38241" y="2544980"/>
            <a:ext cx="4110680" cy="398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ORG</a:t>
            </a:r>
            <a:r>
              <a:rPr lang="en-US" sz="3799" spc="-174">
                <a:solidFill>
                  <a:srgbClr val="5CE1E6"/>
                </a:solidFill>
                <a:latin typeface="Garet"/>
                <a:ea typeface="Garet"/>
                <a:cs typeface="Garet"/>
                <a:sym typeface="Garet"/>
              </a:rPr>
              <a:t>  </a:t>
            </a:r>
            <a:r>
              <a:rPr lang="en-US" sz="3799" spc="-174">
                <a:solidFill>
                  <a:srgbClr val="F0F7FE"/>
                </a:solidFill>
                <a:latin typeface="Garet"/>
                <a:ea typeface="Garet"/>
                <a:cs typeface="Garet"/>
                <a:sym typeface="Garet"/>
              </a:rPr>
              <a:t>$E000</a:t>
            </a:r>
          </a:p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5CE1E6"/>
                </a:solidFill>
                <a:latin typeface="Garet"/>
                <a:ea typeface="Garet"/>
                <a:cs typeface="Garet"/>
                <a:sym typeface="Garet"/>
              </a:rPr>
              <a:t>START: 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LDA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#$01</a:t>
            </a:r>
          </a:p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 </a:t>
            </a: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  STA 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$2000</a:t>
            </a:r>
          </a:p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</a:t>
            </a: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   BEQ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799" spc="-174">
                <a:solidFill>
                  <a:srgbClr val="38B6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799" spc="-174">
                <a:solidFill>
                  <a:srgbClr val="5CE1E6"/>
                </a:solidFill>
                <a:latin typeface="Garet"/>
                <a:ea typeface="Garet"/>
                <a:cs typeface="Garet"/>
                <a:sym typeface="Garet"/>
              </a:rPr>
              <a:t>END</a:t>
            </a:r>
          </a:p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   </a:t>
            </a: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LDA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#$02</a:t>
            </a:r>
          </a:p>
          <a:p>
            <a:pPr algn="just">
              <a:lnSpc>
                <a:spcPts val="5319"/>
              </a:lnSpc>
              <a:spcBef>
                <a:spcPct val="0"/>
              </a:spcBef>
            </a:pPr>
            <a:r>
              <a:rPr lang="en-US" sz="3799" spc="-174">
                <a:solidFill>
                  <a:srgbClr val="5CE1E6"/>
                </a:solidFill>
                <a:latin typeface="Garet"/>
                <a:ea typeface="Garet"/>
                <a:cs typeface="Garet"/>
                <a:sym typeface="Garet"/>
              </a:rPr>
              <a:t>END: 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89111" y="2432112"/>
            <a:ext cx="6292542" cy="6460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8"/>
              </a:lnSpc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On parcourt ligne par ligne et on calcule les adresses :</a:t>
            </a:r>
          </a:p>
          <a:p>
            <a:pPr algn="just" marL="561128" indent="-280564" lvl="1">
              <a:lnSpc>
                <a:spcPts val="3638"/>
              </a:lnSpc>
              <a:buFont typeface="Arial"/>
              <a:buChar char="•"/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START: est à $E000</a:t>
            </a:r>
          </a:p>
          <a:p>
            <a:pPr algn="just" marL="561128" indent="-280564" lvl="1">
              <a:lnSpc>
                <a:spcPts val="3638"/>
              </a:lnSpc>
              <a:buFont typeface="Arial"/>
              <a:buChar char="•"/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LDA #$01 taille 2 → occupe $E000..$E001</a:t>
            </a:r>
          </a:p>
          <a:p>
            <a:pPr algn="just" marL="561128" indent="-280564" lvl="1">
              <a:lnSpc>
                <a:spcPts val="3638"/>
              </a:lnSpc>
              <a:buFont typeface="Arial"/>
              <a:buChar char="•"/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STA $2000 taille 3 → occupe $E002..$E004</a:t>
            </a:r>
          </a:p>
          <a:p>
            <a:pPr algn="just" marL="561128" indent="-280564" lvl="1">
              <a:lnSpc>
                <a:spcPts val="3638"/>
              </a:lnSpc>
              <a:buFont typeface="Arial"/>
              <a:buChar char="•"/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BEQ END taille 2 → occupe $E005..$E006</a:t>
            </a:r>
          </a:p>
          <a:p>
            <a:pPr algn="just" marL="561128" indent="-280564" lvl="1">
              <a:lnSpc>
                <a:spcPts val="3638"/>
              </a:lnSpc>
              <a:buFont typeface="Arial"/>
              <a:buChar char="•"/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LDA #$02 taille 2 → occupe $E007..$E008</a:t>
            </a:r>
          </a:p>
          <a:p>
            <a:pPr algn="just" marL="561128" indent="-280564" lvl="1">
              <a:lnSpc>
                <a:spcPts val="3638"/>
              </a:lnSpc>
              <a:buFont typeface="Arial"/>
              <a:buChar char="•"/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END: est à $E009</a:t>
            </a:r>
          </a:p>
          <a:p>
            <a:pPr algn="just" marL="561128" indent="-280564" lvl="1">
              <a:lnSpc>
                <a:spcPts val="3638"/>
              </a:lnSpc>
              <a:buFont typeface="Arial"/>
              <a:buChar char="•"/>
            </a:pPr>
            <a:r>
              <a:rPr lang="en-US" sz="2599" spc="-11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RTS taille 1 → occupe $E009</a:t>
            </a:r>
          </a:p>
          <a:p>
            <a:pPr algn="just">
              <a:lnSpc>
                <a:spcPts val="4608"/>
              </a:lnSpc>
              <a:spcBef>
                <a:spcPct val="0"/>
              </a:spcBef>
            </a:pPr>
            <a:r>
              <a:rPr lang="en-US" sz="3292" spc="-15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42725" y="167292"/>
            <a:ext cx="4128681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7552" spc="-3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EXEMPLE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31108" y="1683101"/>
            <a:ext cx="60854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07065" y="1855565"/>
            <a:ext cx="7656633" cy="4944126"/>
            <a:chOff x="0" y="0"/>
            <a:chExt cx="2016562" cy="13021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6562" cy="1302157"/>
            </a:xfrm>
            <a:custGeom>
              <a:avLst/>
              <a:gdLst/>
              <a:ahLst/>
              <a:cxnLst/>
              <a:rect r="r" b="b" t="t" l="l"/>
              <a:pathLst>
                <a:path h="1302157" w="2016562">
                  <a:moveTo>
                    <a:pt x="0" y="0"/>
                  </a:moveTo>
                  <a:lnTo>
                    <a:pt x="2016562" y="0"/>
                  </a:lnTo>
                  <a:lnTo>
                    <a:pt x="2016562" y="1302157"/>
                  </a:lnTo>
                  <a:lnTo>
                    <a:pt x="0" y="1302157"/>
                  </a:lnTo>
                  <a:close/>
                </a:path>
              </a:pathLst>
            </a:custGeom>
            <a:solidFill>
              <a:srgbClr val="0A008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16562" cy="1330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271" y="2130094"/>
            <a:ext cx="4486694" cy="4395067"/>
            <a:chOff x="0" y="0"/>
            <a:chExt cx="1181681" cy="1157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1681" cy="1157549"/>
            </a:xfrm>
            <a:custGeom>
              <a:avLst/>
              <a:gdLst/>
              <a:ahLst/>
              <a:cxnLst/>
              <a:rect r="r" b="b" t="t" l="l"/>
              <a:pathLst>
                <a:path h="1157549" w="1181681">
                  <a:moveTo>
                    <a:pt x="0" y="0"/>
                  </a:moveTo>
                  <a:lnTo>
                    <a:pt x="1181681" y="0"/>
                  </a:lnTo>
                  <a:lnTo>
                    <a:pt x="1181681" y="1157549"/>
                  </a:lnTo>
                  <a:lnTo>
                    <a:pt x="0" y="1157549"/>
                  </a:lnTo>
                  <a:close/>
                </a:path>
              </a:pathLst>
            </a:custGeom>
            <a:solidFill>
              <a:srgbClr val="0A008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181681" cy="1186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20965" y="3158017"/>
            <a:ext cx="3086100" cy="2339221"/>
            <a:chOff x="0" y="0"/>
            <a:chExt cx="812800" cy="6160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616091"/>
            </a:xfrm>
            <a:custGeom>
              <a:avLst/>
              <a:gdLst/>
              <a:ahLst/>
              <a:cxnLst/>
              <a:rect r="r" b="b" t="t" l="l"/>
              <a:pathLst>
                <a:path h="616091" w="812800">
                  <a:moveTo>
                    <a:pt x="812800" y="308046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12891"/>
                  </a:lnTo>
                  <a:lnTo>
                    <a:pt x="406400" y="412891"/>
                  </a:lnTo>
                  <a:lnTo>
                    <a:pt x="406400" y="616091"/>
                  </a:lnTo>
                  <a:lnTo>
                    <a:pt x="812800" y="308046"/>
                  </a:ln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46050"/>
              <a:ext cx="711200" cy="266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7"/>
                </a:lnSpc>
              </a:pPr>
              <a:r>
                <a:rPr lang="en-US" b="true" sz="3477" spc="-159">
                  <a:solidFill>
                    <a:srgbClr val="0A008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PASS 1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38241" y="2544980"/>
            <a:ext cx="4110680" cy="398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ORG</a:t>
            </a:r>
            <a:r>
              <a:rPr lang="en-US" sz="3799" spc="-174">
                <a:solidFill>
                  <a:srgbClr val="5CE1E6"/>
                </a:solidFill>
                <a:latin typeface="Garet"/>
                <a:ea typeface="Garet"/>
                <a:cs typeface="Garet"/>
                <a:sym typeface="Garet"/>
              </a:rPr>
              <a:t>  </a:t>
            </a:r>
            <a:r>
              <a:rPr lang="en-US" sz="3799" spc="-174">
                <a:solidFill>
                  <a:srgbClr val="F0F7FE"/>
                </a:solidFill>
                <a:latin typeface="Garet"/>
                <a:ea typeface="Garet"/>
                <a:cs typeface="Garet"/>
                <a:sym typeface="Garet"/>
              </a:rPr>
              <a:t>$E000</a:t>
            </a:r>
          </a:p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5CE1E6"/>
                </a:solidFill>
                <a:latin typeface="Garet"/>
                <a:ea typeface="Garet"/>
                <a:cs typeface="Garet"/>
                <a:sym typeface="Garet"/>
              </a:rPr>
              <a:t>START: 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LDA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#$01</a:t>
            </a:r>
          </a:p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 </a:t>
            </a: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  STA 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$2000</a:t>
            </a:r>
          </a:p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</a:t>
            </a: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   BEQ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799" spc="-174">
                <a:solidFill>
                  <a:srgbClr val="38B6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799" spc="-174">
                <a:solidFill>
                  <a:srgbClr val="5CE1E6"/>
                </a:solidFill>
                <a:latin typeface="Garet"/>
                <a:ea typeface="Garet"/>
                <a:cs typeface="Garet"/>
                <a:sym typeface="Garet"/>
              </a:rPr>
              <a:t>END</a:t>
            </a:r>
          </a:p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   </a:t>
            </a: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LDA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#$02</a:t>
            </a:r>
          </a:p>
          <a:p>
            <a:pPr algn="just">
              <a:lnSpc>
                <a:spcPts val="5319"/>
              </a:lnSpc>
              <a:spcBef>
                <a:spcPct val="0"/>
              </a:spcBef>
            </a:pPr>
            <a:r>
              <a:rPr lang="en-US" sz="3799" spc="-174">
                <a:solidFill>
                  <a:srgbClr val="5CE1E6"/>
                </a:solidFill>
                <a:latin typeface="Garet"/>
                <a:ea typeface="Garet"/>
                <a:cs typeface="Garet"/>
                <a:sym typeface="Garet"/>
              </a:rPr>
              <a:t>END: 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03734" y="2573555"/>
            <a:ext cx="7263295" cy="429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Ce que l’assembleur génère en pass 1 :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LDA #$01 → 86 01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STA $2000 → B7 20 00 (extended)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BEQ END → 27 00  offset inconnu donc placeholder 00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LDA #$02 → 86 02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RTS → 39</a:t>
            </a:r>
          </a:p>
          <a:p>
            <a:pPr algn="just">
              <a:lnSpc>
                <a:spcPts val="531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31108" y="2082469"/>
            <a:ext cx="60854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07065" y="1855565"/>
            <a:ext cx="7656633" cy="4944126"/>
            <a:chOff x="0" y="0"/>
            <a:chExt cx="2016562" cy="13021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6562" cy="1302157"/>
            </a:xfrm>
            <a:custGeom>
              <a:avLst/>
              <a:gdLst/>
              <a:ahLst/>
              <a:cxnLst/>
              <a:rect r="r" b="b" t="t" l="l"/>
              <a:pathLst>
                <a:path h="1302157" w="2016562">
                  <a:moveTo>
                    <a:pt x="0" y="0"/>
                  </a:moveTo>
                  <a:lnTo>
                    <a:pt x="2016562" y="0"/>
                  </a:lnTo>
                  <a:lnTo>
                    <a:pt x="2016562" y="1302157"/>
                  </a:lnTo>
                  <a:lnTo>
                    <a:pt x="0" y="1302157"/>
                  </a:lnTo>
                  <a:close/>
                </a:path>
              </a:pathLst>
            </a:custGeom>
            <a:solidFill>
              <a:srgbClr val="0A008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16562" cy="1330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271" y="2130094"/>
            <a:ext cx="4486694" cy="4395067"/>
            <a:chOff x="0" y="0"/>
            <a:chExt cx="1181681" cy="1157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1681" cy="1157549"/>
            </a:xfrm>
            <a:custGeom>
              <a:avLst/>
              <a:gdLst/>
              <a:ahLst/>
              <a:cxnLst/>
              <a:rect r="r" b="b" t="t" l="l"/>
              <a:pathLst>
                <a:path h="1157549" w="1181681">
                  <a:moveTo>
                    <a:pt x="0" y="0"/>
                  </a:moveTo>
                  <a:lnTo>
                    <a:pt x="1181681" y="0"/>
                  </a:lnTo>
                  <a:lnTo>
                    <a:pt x="1181681" y="1157549"/>
                  </a:lnTo>
                  <a:lnTo>
                    <a:pt x="0" y="1157549"/>
                  </a:lnTo>
                  <a:close/>
                </a:path>
              </a:pathLst>
            </a:custGeom>
            <a:solidFill>
              <a:srgbClr val="0A008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181681" cy="1186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20965" y="3158017"/>
            <a:ext cx="3086100" cy="2339221"/>
            <a:chOff x="0" y="0"/>
            <a:chExt cx="812800" cy="6160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616091"/>
            </a:xfrm>
            <a:custGeom>
              <a:avLst/>
              <a:gdLst/>
              <a:ahLst/>
              <a:cxnLst/>
              <a:rect r="r" b="b" t="t" l="l"/>
              <a:pathLst>
                <a:path h="616091" w="812800">
                  <a:moveTo>
                    <a:pt x="812800" y="308046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12891"/>
                  </a:lnTo>
                  <a:lnTo>
                    <a:pt x="406400" y="412891"/>
                  </a:lnTo>
                  <a:lnTo>
                    <a:pt x="406400" y="616091"/>
                  </a:lnTo>
                  <a:lnTo>
                    <a:pt x="812800" y="308046"/>
                  </a:ln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46050"/>
              <a:ext cx="711200" cy="266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7"/>
                </a:lnSpc>
              </a:pPr>
              <a:r>
                <a:rPr lang="en-US" b="true" sz="3477" spc="-159">
                  <a:solidFill>
                    <a:srgbClr val="0A008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PASS 1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38241" y="2544980"/>
            <a:ext cx="4110680" cy="398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ORG</a:t>
            </a:r>
            <a:r>
              <a:rPr lang="en-US" sz="3799" spc="-174">
                <a:solidFill>
                  <a:srgbClr val="5CE1E6"/>
                </a:solidFill>
                <a:latin typeface="Garet"/>
                <a:ea typeface="Garet"/>
                <a:cs typeface="Garet"/>
                <a:sym typeface="Garet"/>
              </a:rPr>
              <a:t>  </a:t>
            </a:r>
            <a:r>
              <a:rPr lang="en-US" sz="3799" spc="-174">
                <a:solidFill>
                  <a:srgbClr val="F0F7FE"/>
                </a:solidFill>
                <a:latin typeface="Garet"/>
                <a:ea typeface="Garet"/>
                <a:cs typeface="Garet"/>
                <a:sym typeface="Garet"/>
              </a:rPr>
              <a:t>$E000</a:t>
            </a:r>
          </a:p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5CE1E6"/>
                </a:solidFill>
                <a:latin typeface="Garet"/>
                <a:ea typeface="Garet"/>
                <a:cs typeface="Garet"/>
                <a:sym typeface="Garet"/>
              </a:rPr>
              <a:t>START: 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LDA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#$01</a:t>
            </a:r>
          </a:p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 </a:t>
            </a: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  STA 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$2000</a:t>
            </a:r>
          </a:p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</a:t>
            </a: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   BEQ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799" spc="-174">
                <a:solidFill>
                  <a:srgbClr val="38B6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799" spc="-174">
                <a:solidFill>
                  <a:srgbClr val="5CE1E6"/>
                </a:solidFill>
                <a:latin typeface="Garet"/>
                <a:ea typeface="Garet"/>
                <a:cs typeface="Garet"/>
                <a:sym typeface="Garet"/>
              </a:rPr>
              <a:t>END</a:t>
            </a:r>
          </a:p>
          <a:p>
            <a:pPr algn="just">
              <a:lnSpc>
                <a:spcPts val="5319"/>
              </a:lnSpc>
            </a:pP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   </a:t>
            </a:r>
            <a:r>
              <a:rPr lang="en-US" sz="3799" spc="-174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LDA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#$02</a:t>
            </a:r>
          </a:p>
          <a:p>
            <a:pPr algn="just">
              <a:lnSpc>
                <a:spcPts val="5319"/>
              </a:lnSpc>
              <a:spcBef>
                <a:spcPct val="0"/>
              </a:spcBef>
            </a:pPr>
            <a:r>
              <a:rPr lang="en-US" sz="3799" spc="-174">
                <a:solidFill>
                  <a:srgbClr val="5CE1E6"/>
                </a:solidFill>
                <a:latin typeface="Garet"/>
                <a:ea typeface="Garet"/>
                <a:cs typeface="Garet"/>
                <a:sym typeface="Garet"/>
              </a:rPr>
              <a:t>END: </a:t>
            </a:r>
            <a:r>
              <a:rPr lang="en-US" sz="3799" spc="-174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03734" y="2573555"/>
            <a:ext cx="7263295" cy="377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Donc en pass 1, le listing ressemble à :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$E000: 86 01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$E002: B7 20 00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E005: 27 00 ← placeholder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$E007: 86 02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$E009: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39</a:t>
            </a:r>
          </a:p>
          <a:p>
            <a:pPr algn="just">
              <a:lnSpc>
                <a:spcPts val="531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31108" y="2082469"/>
            <a:ext cx="60854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06712" y="3313390"/>
            <a:ext cx="3086100" cy="2339221"/>
            <a:chOff x="0" y="0"/>
            <a:chExt cx="812800" cy="6160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616091"/>
            </a:xfrm>
            <a:custGeom>
              <a:avLst/>
              <a:gdLst/>
              <a:ahLst/>
              <a:cxnLst/>
              <a:rect r="r" b="b" t="t" l="l"/>
              <a:pathLst>
                <a:path h="616091" w="812800">
                  <a:moveTo>
                    <a:pt x="812800" y="308046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12891"/>
                  </a:lnTo>
                  <a:lnTo>
                    <a:pt x="406400" y="412891"/>
                  </a:lnTo>
                  <a:lnTo>
                    <a:pt x="406400" y="616091"/>
                  </a:lnTo>
                  <a:lnTo>
                    <a:pt x="812800" y="308046"/>
                  </a:ln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146050"/>
              <a:ext cx="711200" cy="266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67"/>
                </a:lnSpc>
              </a:pPr>
              <a:r>
                <a:rPr lang="en-US" b="true" sz="3477" spc="-159">
                  <a:solidFill>
                    <a:srgbClr val="0A008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PASS 2 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392812" y="1452560"/>
            <a:ext cx="7640483" cy="5537006"/>
            <a:chOff x="0" y="0"/>
            <a:chExt cx="10187311" cy="738267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187311" cy="7382675"/>
              <a:chOff x="0" y="0"/>
              <a:chExt cx="2012308" cy="145830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12308" cy="1458306"/>
              </a:xfrm>
              <a:custGeom>
                <a:avLst/>
                <a:gdLst/>
                <a:ahLst/>
                <a:cxnLst/>
                <a:rect r="r" b="b" t="t" l="l"/>
                <a:pathLst>
                  <a:path h="1458306" w="2012308">
                    <a:moveTo>
                      <a:pt x="0" y="0"/>
                    </a:moveTo>
                    <a:lnTo>
                      <a:pt x="2012308" y="0"/>
                    </a:lnTo>
                    <a:lnTo>
                      <a:pt x="2012308" y="1458306"/>
                    </a:lnTo>
                    <a:lnTo>
                      <a:pt x="0" y="1458306"/>
                    </a:lnTo>
                    <a:close/>
                  </a:path>
                </a:pathLst>
              </a:custGeom>
              <a:solidFill>
                <a:srgbClr val="0A008E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2012308" cy="14868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62225" y="973195"/>
              <a:ext cx="9684393" cy="6409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99"/>
                </a:lnSpc>
              </a:pPr>
              <a:r>
                <a:rPr lang="en-US" sz="2999" spc="-137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Maintenant on connaît :</a:t>
              </a:r>
            </a:p>
            <a:p>
              <a:pPr algn="just" marL="647694" indent="-323847" lvl="1">
                <a:lnSpc>
                  <a:spcPts val="4199"/>
                </a:lnSpc>
                <a:buFont typeface="Arial"/>
                <a:buChar char="•"/>
              </a:pPr>
              <a:r>
                <a:rPr lang="en-US" sz="2999" spc="-137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Adresse du label END = $E009</a:t>
              </a:r>
            </a:p>
            <a:p>
              <a:pPr algn="just">
                <a:lnSpc>
                  <a:spcPts val="4199"/>
                </a:lnSpc>
              </a:pPr>
              <a:r>
                <a:rPr lang="en-US" sz="2999" spc="-137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Pour la ligne BEQ END située à </a:t>
              </a:r>
            </a:p>
            <a:p>
              <a:pPr algn="just">
                <a:lnSpc>
                  <a:spcPts val="4199"/>
                </a:lnSpc>
              </a:pPr>
              <a:r>
                <a:rPr lang="en-US" sz="2999" spc="-137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PC = </a:t>
              </a:r>
              <a:r>
                <a:rPr lang="en-US" sz="2999" spc="-137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$E005 :</a:t>
              </a:r>
            </a:p>
            <a:p>
              <a:pPr algn="just">
                <a:lnSpc>
                  <a:spcPts val="4199"/>
                </a:lnSpc>
              </a:pPr>
              <a:r>
                <a:rPr lang="en-US" sz="2999" spc="-137">
                  <a:solidFill>
                    <a:srgbClr val="FF914D"/>
                  </a:solidFill>
                  <a:latin typeface="Garet"/>
                  <a:ea typeface="Garet"/>
                  <a:cs typeface="Garet"/>
                  <a:sym typeface="Garet"/>
                </a:rPr>
                <a:t>-&gt;</a:t>
              </a:r>
              <a:r>
                <a:rPr lang="en-US" sz="2999" spc="-137">
                  <a:solidFill>
                    <a:srgbClr val="F05050"/>
                  </a:solidFill>
                  <a:latin typeface="Garet"/>
                  <a:ea typeface="Garet"/>
                  <a:cs typeface="Garet"/>
                  <a:sym typeface="Garet"/>
                </a:rPr>
                <a:t>nextPC</a:t>
              </a:r>
              <a:r>
                <a:rPr lang="en-US" sz="2999" spc="-137">
                  <a:solidFill>
                    <a:srgbClr val="FF914D"/>
                  </a:solidFill>
                  <a:latin typeface="Garet"/>
                  <a:ea typeface="Garet"/>
                  <a:cs typeface="Garet"/>
                  <a:sym typeface="Garet"/>
                </a:rPr>
                <a:t> = PC + size = $E005 + 2 = </a:t>
              </a:r>
              <a:r>
                <a:rPr lang="en-US" sz="2999" spc="-137">
                  <a:solidFill>
                    <a:srgbClr val="FF914D"/>
                  </a:solidFill>
                  <a:latin typeface="Garet"/>
                  <a:ea typeface="Garet"/>
                  <a:cs typeface="Garet"/>
                  <a:sym typeface="Garet"/>
                </a:rPr>
                <a:t>$</a:t>
              </a:r>
              <a:r>
                <a:rPr lang="en-US" sz="2999" spc="-137">
                  <a:solidFill>
                    <a:srgbClr val="FF914D"/>
                  </a:solidFill>
                  <a:latin typeface="Garet"/>
                  <a:ea typeface="Garet"/>
                  <a:cs typeface="Garet"/>
                  <a:sym typeface="Garet"/>
                </a:rPr>
                <a:t>E007</a:t>
              </a:r>
            </a:p>
            <a:p>
              <a:pPr algn="just">
                <a:lnSpc>
                  <a:spcPts val="4199"/>
                </a:lnSpc>
              </a:pPr>
              <a:r>
                <a:rPr lang="en-US" sz="2999" spc="-137">
                  <a:solidFill>
                    <a:srgbClr val="FF914D"/>
                  </a:solidFill>
                  <a:latin typeface="Garet"/>
                  <a:ea typeface="Garet"/>
                  <a:cs typeface="Garet"/>
                  <a:sym typeface="Garet"/>
                </a:rPr>
                <a:t>-&gt;</a:t>
              </a:r>
              <a:r>
                <a:rPr lang="en-US" sz="2999" spc="-137">
                  <a:solidFill>
                    <a:srgbClr val="F05050"/>
                  </a:solidFill>
                  <a:latin typeface="Garet"/>
                  <a:ea typeface="Garet"/>
                  <a:cs typeface="Garet"/>
                  <a:sym typeface="Garet"/>
                </a:rPr>
                <a:t>target</a:t>
              </a:r>
              <a:r>
                <a:rPr lang="en-US" sz="2999" spc="-137">
                  <a:solidFill>
                    <a:srgbClr val="FF914D"/>
                  </a:solidFill>
                  <a:latin typeface="Garet"/>
                  <a:ea typeface="Garet"/>
                  <a:cs typeface="Garet"/>
                  <a:sym typeface="Garet"/>
                </a:rPr>
                <a:t> = $E009</a:t>
              </a:r>
            </a:p>
            <a:p>
              <a:pPr algn="just">
                <a:lnSpc>
                  <a:spcPts val="4199"/>
                </a:lnSpc>
              </a:pPr>
              <a:r>
                <a:rPr lang="en-US" sz="2999" spc="-137">
                  <a:solidFill>
                    <a:srgbClr val="FF914D"/>
                  </a:solidFill>
                  <a:latin typeface="Garet"/>
                  <a:ea typeface="Garet"/>
                  <a:cs typeface="Garet"/>
                  <a:sym typeface="Garet"/>
                </a:rPr>
                <a:t>-&gt;</a:t>
              </a:r>
              <a:r>
                <a:rPr lang="en-US" sz="2999" spc="-137">
                  <a:solidFill>
                    <a:srgbClr val="F05050"/>
                  </a:solidFill>
                  <a:latin typeface="Garet"/>
                  <a:ea typeface="Garet"/>
                  <a:cs typeface="Garet"/>
                  <a:sym typeface="Garet"/>
                </a:rPr>
                <a:t>offset</a:t>
              </a:r>
              <a:r>
                <a:rPr lang="en-US" sz="2999" spc="-137">
                  <a:solidFill>
                    <a:srgbClr val="FF914D"/>
                  </a:solidFill>
                  <a:latin typeface="Garet"/>
                  <a:ea typeface="Garet"/>
                  <a:cs typeface="Garet"/>
                  <a:sym typeface="Garet"/>
                </a:rPr>
                <a:t> = target - nextPC = $E009 - </a:t>
              </a:r>
              <a:r>
                <a:rPr lang="en-US" sz="2999" spc="-137">
                  <a:solidFill>
                    <a:srgbClr val="FF914D"/>
                  </a:solidFill>
                  <a:latin typeface="Garet"/>
                  <a:ea typeface="Garet"/>
                  <a:cs typeface="Garet"/>
                  <a:sym typeface="Garet"/>
                </a:rPr>
                <a:t>$E007</a:t>
              </a:r>
              <a:r>
                <a:rPr lang="en-US" sz="2999" spc="-137">
                  <a:solidFill>
                    <a:srgbClr val="FF914D"/>
                  </a:solidFill>
                  <a:latin typeface="Garet"/>
                  <a:ea typeface="Garet"/>
                  <a:cs typeface="Garet"/>
                  <a:sym typeface="Garet"/>
                </a:rPr>
                <a:t> = $0002</a:t>
              </a:r>
            </a:p>
            <a:p>
              <a:pPr algn="just">
                <a:lnSpc>
                  <a:spcPts val="5319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171960" y="217732"/>
              <a:ext cx="811398" cy="580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8333" y="2010937"/>
            <a:ext cx="7108379" cy="4944126"/>
            <a:chOff x="0" y="0"/>
            <a:chExt cx="1872166" cy="13021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72166" cy="1302157"/>
            </a:xfrm>
            <a:custGeom>
              <a:avLst/>
              <a:gdLst/>
              <a:ahLst/>
              <a:cxnLst/>
              <a:rect r="r" b="b" t="t" l="l"/>
              <a:pathLst>
                <a:path h="1302157" w="1872166">
                  <a:moveTo>
                    <a:pt x="0" y="0"/>
                  </a:moveTo>
                  <a:lnTo>
                    <a:pt x="1872166" y="0"/>
                  </a:lnTo>
                  <a:lnTo>
                    <a:pt x="1872166" y="1302157"/>
                  </a:lnTo>
                  <a:lnTo>
                    <a:pt x="0" y="1302157"/>
                  </a:lnTo>
                  <a:close/>
                </a:path>
              </a:pathLst>
            </a:custGeom>
            <a:solidFill>
              <a:srgbClr val="0A008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72166" cy="1330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95002" y="2728928"/>
            <a:ext cx="6711685" cy="377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Donc en pass 1, le listing ressemble à :</a:t>
            </a:r>
          </a:p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 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$E000: 86 01</a:t>
            </a:r>
          </a:p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 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$E002: B7 20 00</a:t>
            </a:r>
          </a:p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 $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E005: 27 </a:t>
            </a:r>
            <a:r>
              <a:rPr lang="en-US" sz="2999" spc="-137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00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← placeholder</a:t>
            </a:r>
          </a:p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 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$E007: 86 02</a:t>
            </a:r>
          </a:p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  $</a:t>
            </a:r>
            <a:r>
              <a:rPr lang="en-US" sz="2999" spc="-137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E009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: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39</a:t>
            </a:r>
          </a:p>
          <a:p>
            <a:pPr algn="just">
              <a:lnSpc>
                <a:spcPts val="531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446570" y="2162330"/>
            <a:ext cx="60854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014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127532" y="2671437"/>
            <a:ext cx="5701511" cy="4944126"/>
            <a:chOff x="0" y="0"/>
            <a:chExt cx="1501633" cy="13021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01633" cy="1302157"/>
            </a:xfrm>
            <a:custGeom>
              <a:avLst/>
              <a:gdLst/>
              <a:ahLst/>
              <a:cxnLst/>
              <a:rect r="r" b="b" t="t" l="l"/>
              <a:pathLst>
                <a:path h="1302157" w="1501633">
                  <a:moveTo>
                    <a:pt x="0" y="0"/>
                  </a:moveTo>
                  <a:lnTo>
                    <a:pt x="1501633" y="0"/>
                  </a:lnTo>
                  <a:lnTo>
                    <a:pt x="1501633" y="1302157"/>
                  </a:lnTo>
                  <a:lnTo>
                    <a:pt x="0" y="1302157"/>
                  </a:lnTo>
                  <a:close/>
                </a:path>
              </a:pathLst>
            </a:custGeom>
            <a:solidFill>
              <a:srgbClr val="0A008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01633" cy="1330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368124" y="3389427"/>
            <a:ext cx="5220328" cy="377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$E000: 86 01</a:t>
            </a:r>
          </a:p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$E002: B7 20 00</a:t>
            </a:r>
          </a:p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E005: 27 </a:t>
            </a:r>
            <a:r>
              <a:rPr lang="en-US" sz="2999" spc="-137">
                <a:solidFill>
                  <a:srgbClr val="FF914D"/>
                </a:solidFill>
                <a:latin typeface="Garet"/>
                <a:ea typeface="Garet"/>
                <a:cs typeface="Garet"/>
                <a:sym typeface="Garet"/>
              </a:rPr>
              <a:t>02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patch appliqué</a:t>
            </a:r>
          </a:p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$E007: 86 02</a:t>
            </a:r>
          </a:p>
          <a:p>
            <a:pPr algn="just">
              <a:lnSpc>
                <a:spcPts val="4199"/>
              </a:lnSpc>
            </a:pP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$E009:</a:t>
            </a:r>
            <a:r>
              <a:rPr lang="en-US" sz="2999" spc="-13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39</a:t>
            </a:r>
          </a:p>
          <a:p>
            <a:pPr algn="just">
              <a:lnSpc>
                <a:spcPts val="53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674014" y="2875481"/>
            <a:ext cx="60854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65254" y="666476"/>
            <a:ext cx="4626067" cy="107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sz="6217" spc="-28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RESULTAT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86479" y="1429193"/>
            <a:ext cx="6535166" cy="107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b="true" sz="6217" spc="-28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FINAL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15965" y="1962439"/>
            <a:ext cx="4626067" cy="107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sz="6217" spc="-28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M</a:t>
            </a:r>
            <a:r>
              <a:rPr lang="en-US" sz="6217" spc="-28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ODE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37190" y="2725156"/>
            <a:ext cx="6535166" cy="107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b="true" sz="6217" spc="-28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D’ADRESSAGE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48247" y="4253282"/>
            <a:ext cx="6389629" cy="771525"/>
            <a:chOff x="0" y="0"/>
            <a:chExt cx="3365731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548247" y="5262193"/>
            <a:ext cx="6389629" cy="771525"/>
            <a:chOff x="0" y="0"/>
            <a:chExt cx="3365731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65731" cy="406400"/>
            </a:xfrm>
            <a:custGeom>
              <a:avLst/>
              <a:gdLst/>
              <a:ahLst/>
              <a:cxnLst/>
              <a:rect r="r" b="b" t="t" l="l"/>
              <a:pathLst>
                <a:path h="406400" w="3365731">
                  <a:moveTo>
                    <a:pt x="3162531" y="0"/>
                  </a:moveTo>
                  <a:cubicBezTo>
                    <a:pt x="3274755" y="0"/>
                    <a:pt x="3365731" y="90976"/>
                    <a:pt x="3365731" y="203200"/>
                  </a:cubicBezTo>
                  <a:cubicBezTo>
                    <a:pt x="3365731" y="315424"/>
                    <a:pt x="3274755" y="406400"/>
                    <a:pt x="316253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365731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061824" y="4391715"/>
            <a:ext cx="4156113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FF914D"/>
                </a:solidFill>
                <a:latin typeface="Garet Bold"/>
                <a:ea typeface="Garet Bold"/>
                <a:cs typeface="Garet Bold"/>
                <a:sym typeface="Garet Bold"/>
              </a:rPr>
              <a:t># </a:t>
            </a: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→ Immediate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139915" y="4253282"/>
            <a:ext cx="1797961" cy="771525"/>
            <a:chOff x="0" y="0"/>
            <a:chExt cx="947074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7074" cy="406400"/>
            </a:xfrm>
            <a:custGeom>
              <a:avLst/>
              <a:gdLst/>
              <a:ahLst/>
              <a:cxnLst/>
              <a:rect r="r" b="b" t="t" l="l"/>
              <a:pathLst>
                <a:path h="406400" w="947074">
                  <a:moveTo>
                    <a:pt x="743874" y="0"/>
                  </a:moveTo>
                  <a:cubicBezTo>
                    <a:pt x="856098" y="0"/>
                    <a:pt x="947074" y="90976"/>
                    <a:pt x="947074" y="203200"/>
                  </a:cubicBezTo>
                  <a:cubicBezTo>
                    <a:pt x="947074" y="315424"/>
                    <a:pt x="856098" y="406400"/>
                    <a:pt x="74387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47074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593829" y="4391715"/>
            <a:ext cx="890134" cy="44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01.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139915" y="5262193"/>
            <a:ext cx="1797961" cy="771525"/>
            <a:chOff x="0" y="0"/>
            <a:chExt cx="947074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7074" cy="406400"/>
            </a:xfrm>
            <a:custGeom>
              <a:avLst/>
              <a:gdLst/>
              <a:ahLst/>
              <a:cxnLst/>
              <a:rect r="r" b="b" t="t" l="l"/>
              <a:pathLst>
                <a:path h="406400" w="947074">
                  <a:moveTo>
                    <a:pt x="743874" y="0"/>
                  </a:moveTo>
                  <a:cubicBezTo>
                    <a:pt x="856098" y="0"/>
                    <a:pt x="947074" y="90976"/>
                    <a:pt x="947074" y="203200"/>
                  </a:cubicBezTo>
                  <a:cubicBezTo>
                    <a:pt x="947074" y="315424"/>
                    <a:pt x="856098" y="406400"/>
                    <a:pt x="74387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947074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593829" y="5400625"/>
            <a:ext cx="890134" cy="44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02.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77541" y="4253282"/>
            <a:ext cx="6692819" cy="771525"/>
            <a:chOff x="0" y="0"/>
            <a:chExt cx="8923759" cy="10287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8923759" cy="1028700"/>
              <a:chOff x="0" y="0"/>
              <a:chExt cx="3525436" cy="406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52543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525436">
                    <a:moveTo>
                      <a:pt x="3322236" y="0"/>
                    </a:moveTo>
                    <a:cubicBezTo>
                      <a:pt x="3434460" y="0"/>
                      <a:pt x="3525436" y="90976"/>
                      <a:pt x="3525436" y="203200"/>
                    </a:cubicBezTo>
                    <a:cubicBezTo>
                      <a:pt x="3525436" y="315424"/>
                      <a:pt x="3434460" y="406400"/>
                      <a:pt x="332223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352543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6412726" y="0"/>
              <a:ext cx="2511033" cy="1028700"/>
              <a:chOff x="0" y="0"/>
              <a:chExt cx="992013" cy="406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9201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992013">
                    <a:moveTo>
                      <a:pt x="788813" y="0"/>
                    </a:moveTo>
                    <a:cubicBezTo>
                      <a:pt x="901037" y="0"/>
                      <a:pt x="992013" y="90976"/>
                      <a:pt x="992013" y="203200"/>
                    </a:cubicBezTo>
                    <a:cubicBezTo>
                      <a:pt x="992013" y="315424"/>
                      <a:pt x="901037" y="406400"/>
                      <a:pt x="78881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992013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7046662" y="200452"/>
              <a:ext cx="1243161" cy="580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77541" y="5262193"/>
            <a:ext cx="6692819" cy="771525"/>
            <a:chOff x="0" y="0"/>
            <a:chExt cx="8923759" cy="10287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8923759" cy="1028700"/>
              <a:chOff x="0" y="0"/>
              <a:chExt cx="3525436" cy="4064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352543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525436">
                    <a:moveTo>
                      <a:pt x="3322236" y="0"/>
                    </a:moveTo>
                    <a:cubicBezTo>
                      <a:pt x="3434460" y="0"/>
                      <a:pt x="3525436" y="90976"/>
                      <a:pt x="3525436" y="203200"/>
                    </a:cubicBezTo>
                    <a:cubicBezTo>
                      <a:pt x="3525436" y="315424"/>
                      <a:pt x="3434460" y="406400"/>
                      <a:pt x="332223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352543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6412726" y="0"/>
              <a:ext cx="2511033" cy="1028700"/>
              <a:chOff x="0" y="0"/>
              <a:chExt cx="992013" cy="4064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9201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992013">
                    <a:moveTo>
                      <a:pt x="788813" y="0"/>
                    </a:moveTo>
                    <a:cubicBezTo>
                      <a:pt x="901037" y="0"/>
                      <a:pt x="992013" y="90976"/>
                      <a:pt x="992013" y="203200"/>
                    </a:cubicBezTo>
                    <a:cubicBezTo>
                      <a:pt x="992013" y="315424"/>
                      <a:pt x="901037" y="406400"/>
                      <a:pt x="78881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992013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7046662" y="200452"/>
              <a:ext cx="1243161" cy="580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04.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3061824" y="5424857"/>
            <a:ext cx="4156113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FF914D"/>
                </a:solidFill>
                <a:latin typeface="Garet Bold"/>
                <a:ea typeface="Garet Bold"/>
                <a:cs typeface="Garet Bold"/>
                <a:sym typeface="Garet Bold"/>
              </a:rPr>
              <a:t>&lt;= </a:t>
            </a:r>
            <a:r>
              <a:rPr lang="en-US" b="true" sz="2650" spc="-121">
                <a:solidFill>
                  <a:srgbClr val="F0F7FE"/>
                </a:solidFill>
                <a:latin typeface="Garet Bold"/>
                <a:ea typeface="Garet Bold"/>
                <a:cs typeface="Garet Bold"/>
                <a:sym typeface="Garet Bold"/>
              </a:rPr>
              <a:t>$FF</a:t>
            </a: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→ Direct (avec DP)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62916" y="4391715"/>
            <a:ext cx="4760207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FF914D"/>
                </a:solidFill>
                <a:latin typeface="Garet Bold"/>
                <a:ea typeface="Garet Bold"/>
                <a:cs typeface="Garet Bold"/>
                <a:sym typeface="Garet Bold"/>
              </a:rPr>
              <a:t>, </a:t>
            </a: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ou </a:t>
            </a:r>
            <a:r>
              <a:rPr lang="en-US" b="true" sz="2650" spc="-121">
                <a:solidFill>
                  <a:srgbClr val="FF914D"/>
                </a:solidFill>
                <a:latin typeface="Garet Bold"/>
                <a:ea typeface="Garet Bold"/>
                <a:cs typeface="Garet Bold"/>
                <a:sym typeface="Garet Bold"/>
              </a:rPr>
              <a:t>[...]</a:t>
            </a: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→ Indexed / Indirect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51883" y="5424857"/>
            <a:ext cx="40239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FF914D"/>
                </a:solidFill>
                <a:latin typeface="Garet Bold"/>
                <a:ea typeface="Garet Bold"/>
                <a:cs typeface="Garet Bold"/>
                <a:sym typeface="Garet Bold"/>
              </a:rPr>
              <a:t>&gt;</a:t>
            </a: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$FFFF → Extended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797590" y="6452818"/>
            <a:ext cx="6692819" cy="771525"/>
            <a:chOff x="0" y="0"/>
            <a:chExt cx="3525436" cy="406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25436" cy="406400"/>
            </a:xfrm>
            <a:custGeom>
              <a:avLst/>
              <a:gdLst/>
              <a:ahLst/>
              <a:cxnLst/>
              <a:rect r="r" b="b" t="t" l="l"/>
              <a:pathLst>
                <a:path h="406400" w="3525436">
                  <a:moveTo>
                    <a:pt x="3322236" y="0"/>
                  </a:moveTo>
                  <a:cubicBezTo>
                    <a:pt x="3434460" y="0"/>
                    <a:pt x="3525436" y="90976"/>
                    <a:pt x="3525436" y="203200"/>
                  </a:cubicBezTo>
                  <a:cubicBezTo>
                    <a:pt x="3525436" y="315424"/>
                    <a:pt x="3434460" y="406400"/>
                    <a:pt x="332223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3525436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607135" y="6452818"/>
            <a:ext cx="1883275" cy="771525"/>
            <a:chOff x="0" y="0"/>
            <a:chExt cx="992013" cy="406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2013" cy="406400"/>
            </a:xfrm>
            <a:custGeom>
              <a:avLst/>
              <a:gdLst/>
              <a:ahLst/>
              <a:cxnLst/>
              <a:rect r="r" b="b" t="t" l="l"/>
              <a:pathLst>
                <a:path h="406400" w="992013">
                  <a:moveTo>
                    <a:pt x="788813" y="0"/>
                  </a:moveTo>
                  <a:cubicBezTo>
                    <a:pt x="901037" y="0"/>
                    <a:pt x="992013" y="90976"/>
                    <a:pt x="992013" y="203200"/>
                  </a:cubicBezTo>
                  <a:cubicBezTo>
                    <a:pt x="992013" y="315424"/>
                    <a:pt x="901037" y="406400"/>
                    <a:pt x="7888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99201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082587" y="6591250"/>
            <a:ext cx="932371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05.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471932" y="6615482"/>
            <a:ext cx="40239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FF914D"/>
                </a:solidFill>
                <a:latin typeface="Garet Bold"/>
                <a:ea typeface="Garet Bold"/>
                <a:cs typeface="Garet Bold"/>
                <a:sym typeface="Garet Bold"/>
              </a:rPr>
              <a:t>Bxx/LBxx</a:t>
            </a: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→ Relative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15965" y="1962439"/>
            <a:ext cx="4626067" cy="107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sz="6217" spc="-28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IN</a:t>
            </a:r>
            <a:r>
              <a:rPr lang="en-US" sz="6217" spc="-28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DEXED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93156" y="2601422"/>
            <a:ext cx="10501689" cy="107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03"/>
              </a:lnSpc>
              <a:spcBef>
                <a:spcPct val="0"/>
              </a:spcBef>
            </a:pPr>
            <a:r>
              <a:rPr lang="en-US" b="true" sz="6217" spc="-28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LE CAS LE PLUS COMPLEXE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0037" y="3854374"/>
            <a:ext cx="7644255" cy="771525"/>
            <a:chOff x="0" y="0"/>
            <a:chExt cx="402660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6603" cy="406400"/>
            </a:xfrm>
            <a:custGeom>
              <a:avLst/>
              <a:gdLst/>
              <a:ahLst/>
              <a:cxnLst/>
              <a:rect r="r" b="b" t="t" l="l"/>
              <a:pathLst>
                <a:path h="406400" w="4026603">
                  <a:moveTo>
                    <a:pt x="3823403" y="0"/>
                  </a:moveTo>
                  <a:cubicBezTo>
                    <a:pt x="3935628" y="0"/>
                    <a:pt x="4026603" y="90976"/>
                    <a:pt x="4026603" y="203200"/>
                  </a:cubicBezTo>
                  <a:cubicBezTo>
                    <a:pt x="4026603" y="315424"/>
                    <a:pt x="3935628" y="406400"/>
                    <a:pt x="382340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02660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63111" y="5206230"/>
            <a:ext cx="3359185" cy="771525"/>
            <a:chOff x="0" y="0"/>
            <a:chExt cx="1769447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6944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9447">
                  <a:moveTo>
                    <a:pt x="1566247" y="0"/>
                  </a:moveTo>
                  <a:cubicBezTo>
                    <a:pt x="1678471" y="0"/>
                    <a:pt x="1769447" y="90976"/>
                    <a:pt x="1769447" y="203200"/>
                  </a:cubicBezTo>
                  <a:cubicBezTo>
                    <a:pt x="1769447" y="315424"/>
                    <a:pt x="1678471" y="406400"/>
                    <a:pt x="15662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6944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7"/>
                </a:lnSpc>
              </a:pPr>
              <a:r>
                <a:rPr lang="en-US" b="true" sz="2577" spc="-118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Assembleur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7083323"/>
            <a:ext cx="7644255" cy="771525"/>
            <a:chOff x="0" y="0"/>
            <a:chExt cx="4026603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26603" cy="406400"/>
            </a:xfrm>
            <a:custGeom>
              <a:avLst/>
              <a:gdLst/>
              <a:ahLst/>
              <a:cxnLst/>
              <a:rect r="r" b="b" t="t" l="l"/>
              <a:pathLst>
                <a:path h="406400" w="4026603">
                  <a:moveTo>
                    <a:pt x="3823403" y="0"/>
                  </a:moveTo>
                  <a:cubicBezTo>
                    <a:pt x="3935628" y="0"/>
                    <a:pt x="4026603" y="90976"/>
                    <a:pt x="4026603" y="203200"/>
                  </a:cubicBezTo>
                  <a:cubicBezTo>
                    <a:pt x="4026603" y="315424"/>
                    <a:pt x="3935628" y="406400"/>
                    <a:pt x="382340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02660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63111" y="8459768"/>
            <a:ext cx="3359185" cy="771525"/>
            <a:chOff x="0" y="0"/>
            <a:chExt cx="1769447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6944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9447">
                  <a:moveTo>
                    <a:pt x="1566247" y="0"/>
                  </a:moveTo>
                  <a:cubicBezTo>
                    <a:pt x="1678471" y="0"/>
                    <a:pt x="1769447" y="90976"/>
                    <a:pt x="1769447" y="203200"/>
                  </a:cubicBezTo>
                  <a:cubicBezTo>
                    <a:pt x="1769447" y="315424"/>
                    <a:pt x="1678471" y="406400"/>
                    <a:pt x="15662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69447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7"/>
                </a:lnSpc>
              </a:pPr>
              <a:r>
                <a:rPr lang="en-US" b="true" sz="2577" spc="-118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Executeur</a:t>
              </a:r>
              <a:r>
                <a:rPr lang="en-US" sz="2577" spc="-118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 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62111" y="3655932"/>
            <a:ext cx="5701511" cy="4056863"/>
            <a:chOff x="0" y="0"/>
            <a:chExt cx="1501633" cy="10684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01633" cy="1068474"/>
            </a:xfrm>
            <a:custGeom>
              <a:avLst/>
              <a:gdLst/>
              <a:ahLst/>
              <a:cxnLst/>
              <a:rect r="r" b="b" t="t" l="l"/>
              <a:pathLst>
                <a:path h="1068474" w="1501633">
                  <a:moveTo>
                    <a:pt x="0" y="0"/>
                  </a:moveTo>
                  <a:lnTo>
                    <a:pt x="1501633" y="0"/>
                  </a:lnTo>
                  <a:lnTo>
                    <a:pt x="1501633" y="1068474"/>
                  </a:lnTo>
                  <a:lnTo>
                    <a:pt x="0" y="1068474"/>
                  </a:lnTo>
                  <a:close/>
                </a:path>
              </a:pathLst>
            </a:custGeom>
            <a:solidFill>
              <a:srgbClr val="0A008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501633" cy="1097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6163622" y="4380493"/>
            <a:ext cx="2664060" cy="130387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6163622" y="5684363"/>
            <a:ext cx="2386744" cy="176941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3" id="23"/>
          <p:cNvGrpSpPr/>
          <p:nvPr/>
        </p:nvGrpSpPr>
        <p:grpSpPr>
          <a:xfrm rot="5400000">
            <a:off x="12617508" y="4770521"/>
            <a:ext cx="450390" cy="295568"/>
            <a:chOff x="0" y="0"/>
            <a:chExt cx="812800" cy="533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273050" y="0"/>
                  </a:moveTo>
                  <a:lnTo>
                    <a:pt x="0" y="266700"/>
                  </a:lnTo>
                  <a:lnTo>
                    <a:pt x="273050" y="533400"/>
                  </a:lnTo>
                  <a:lnTo>
                    <a:pt x="273050" y="400050"/>
                  </a:lnTo>
                  <a:lnTo>
                    <a:pt x="539750" y="400050"/>
                  </a:lnTo>
                  <a:lnTo>
                    <a:pt x="539750" y="533400"/>
                  </a:lnTo>
                  <a:lnTo>
                    <a:pt x="812800" y="266700"/>
                  </a:lnTo>
                  <a:lnTo>
                    <a:pt x="539750" y="0"/>
                  </a:lnTo>
                  <a:lnTo>
                    <a:pt x="539750" y="133350"/>
                  </a:lnTo>
                  <a:lnTo>
                    <a:pt x="273050" y="133350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111125"/>
              <a:ext cx="6096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01984" y="3959161"/>
            <a:ext cx="5024498" cy="91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</a:pPr>
            <a:r>
              <a:rPr lang="en-US" sz="2650" spc="-121" b="true">
                <a:solidFill>
                  <a:srgbClr val="F0F7FE"/>
                </a:solidFill>
                <a:latin typeface="Garet Bold"/>
                <a:ea typeface="Garet Bold"/>
                <a:cs typeface="Garet Bold"/>
                <a:sym typeface="Garet Bold"/>
              </a:rPr>
              <a:t>class</a:t>
            </a:r>
            <a:r>
              <a:rPr lang="en-US" sz="2650" spc="-121" b="true">
                <a:solidFill>
                  <a:srgbClr val="FF914D"/>
                </a:solidFill>
                <a:latin typeface="Garet Bold"/>
                <a:ea typeface="Garet Bold"/>
                <a:cs typeface="Garet Bold"/>
                <a:sym typeface="Garet Bold"/>
              </a:rPr>
              <a:t> IndexedEncoder</a:t>
            </a:r>
          </a:p>
          <a:p>
            <a:pPr algn="l">
              <a:lnSpc>
                <a:spcPts val="3711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1569043" y="7212699"/>
            <a:ext cx="5024498" cy="91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</a:pPr>
            <a:r>
              <a:rPr lang="en-US" sz="2650" spc="-121" b="true">
                <a:solidFill>
                  <a:srgbClr val="F0F7FE"/>
                </a:solidFill>
                <a:latin typeface="Garet Bold"/>
                <a:ea typeface="Garet Bold"/>
                <a:cs typeface="Garet Bold"/>
                <a:sym typeface="Garet Bold"/>
              </a:rPr>
              <a:t>class</a:t>
            </a:r>
            <a:r>
              <a:rPr lang="en-US" sz="2650" spc="-121" b="true">
                <a:solidFill>
                  <a:srgbClr val="FF914D"/>
                </a:solidFill>
                <a:latin typeface="Garet Bold"/>
                <a:ea typeface="Garet Bold"/>
                <a:cs typeface="Garet Bold"/>
                <a:sym typeface="Garet Bold"/>
              </a:rPr>
              <a:t> IndexedCycleCalculator</a:t>
            </a:r>
          </a:p>
          <a:p>
            <a:pPr algn="l">
              <a:lnSpc>
                <a:spcPts val="3711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733987" y="4151542"/>
            <a:ext cx="2328540" cy="3591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88424" indent="-444212" lvl="1">
              <a:lnSpc>
                <a:spcPts val="5760"/>
              </a:lnSpc>
              <a:buFont typeface="Arial"/>
              <a:buChar char="•"/>
            </a:pPr>
            <a:r>
              <a:rPr lang="en-US" sz="4114" spc="-18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X+ </a:t>
            </a:r>
          </a:p>
          <a:p>
            <a:pPr algn="just" marL="888424" indent="-444212" lvl="1">
              <a:lnSpc>
                <a:spcPts val="5760"/>
              </a:lnSpc>
              <a:buFont typeface="Arial"/>
              <a:buChar char="•"/>
            </a:pPr>
            <a:r>
              <a:rPr lang="en-US" sz="4114" spc="-18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--S </a:t>
            </a:r>
          </a:p>
          <a:p>
            <a:pPr algn="just" marL="888424" indent="-444212" lvl="1">
              <a:lnSpc>
                <a:spcPts val="5760"/>
              </a:lnSpc>
              <a:buFont typeface="Arial"/>
              <a:buChar char="•"/>
            </a:pPr>
            <a:r>
              <a:rPr lang="en-US" sz="4114" spc="-18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5,X </a:t>
            </a:r>
          </a:p>
          <a:p>
            <a:pPr algn="just" marL="888424" indent="-444212" lvl="1">
              <a:lnSpc>
                <a:spcPts val="5760"/>
              </a:lnSpc>
              <a:buFont typeface="Arial"/>
              <a:buChar char="•"/>
            </a:pPr>
            <a:r>
              <a:rPr lang="en-US" sz="4114" spc="-18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200,X</a:t>
            </a:r>
          </a:p>
          <a:p>
            <a:pPr algn="just">
              <a:lnSpc>
                <a:spcPts val="5760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3192146" y="3440656"/>
            <a:ext cx="2647776" cy="3591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60"/>
              </a:lnSpc>
              <a:spcBef>
                <a:spcPct val="0"/>
              </a:spcBef>
            </a:pPr>
          </a:p>
          <a:p>
            <a:pPr algn="just" marL="888424" indent="-444212" lvl="1">
              <a:lnSpc>
                <a:spcPts val="5760"/>
              </a:lnSpc>
              <a:buFont typeface="Arial"/>
              <a:buChar char="•"/>
            </a:pPr>
            <a:r>
              <a:rPr lang="en-US" sz="4114" spc="-18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A,X </a:t>
            </a:r>
          </a:p>
          <a:p>
            <a:pPr algn="just" marL="888424" indent="-444212" lvl="1">
              <a:lnSpc>
                <a:spcPts val="5760"/>
              </a:lnSpc>
              <a:buFont typeface="Arial"/>
              <a:buChar char="•"/>
            </a:pPr>
            <a:r>
              <a:rPr lang="en-US" sz="4114" spc="-18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D,U</a:t>
            </a:r>
          </a:p>
          <a:p>
            <a:pPr algn="just" marL="888424" indent="-444212" lvl="1">
              <a:lnSpc>
                <a:spcPts val="5760"/>
              </a:lnSpc>
              <a:buFont typeface="Arial"/>
              <a:buChar char="•"/>
            </a:pPr>
            <a:r>
              <a:rPr lang="en-US" sz="4114" spc="-18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8,PC</a:t>
            </a:r>
          </a:p>
          <a:p>
            <a:pPr algn="just" marL="888424" indent="-444212" lvl="1">
              <a:lnSpc>
                <a:spcPts val="5760"/>
              </a:lnSpc>
              <a:buFont typeface="Arial"/>
              <a:buChar char="•"/>
            </a:pPr>
            <a:r>
              <a:rPr lang="en-US" sz="4114" spc="-18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[$1234]</a:t>
            </a:r>
          </a:p>
        </p:txBody>
      </p:sp>
      <p:grpSp>
        <p:nvGrpSpPr>
          <p:cNvPr name="Group 31" id="31"/>
          <p:cNvGrpSpPr/>
          <p:nvPr/>
        </p:nvGrpSpPr>
        <p:grpSpPr>
          <a:xfrm rot="5400000">
            <a:off x="12589185" y="8009524"/>
            <a:ext cx="450390" cy="295568"/>
            <a:chOff x="0" y="0"/>
            <a:chExt cx="812800" cy="533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273050" y="0"/>
                  </a:moveTo>
                  <a:lnTo>
                    <a:pt x="0" y="266700"/>
                  </a:lnTo>
                  <a:lnTo>
                    <a:pt x="273050" y="533400"/>
                  </a:lnTo>
                  <a:lnTo>
                    <a:pt x="273050" y="400050"/>
                  </a:lnTo>
                  <a:lnTo>
                    <a:pt x="539750" y="400050"/>
                  </a:lnTo>
                  <a:lnTo>
                    <a:pt x="539750" y="533400"/>
                  </a:lnTo>
                  <a:lnTo>
                    <a:pt x="812800" y="266700"/>
                  </a:lnTo>
                  <a:lnTo>
                    <a:pt x="539750" y="0"/>
                  </a:lnTo>
                  <a:lnTo>
                    <a:pt x="539750" y="133350"/>
                  </a:lnTo>
                  <a:lnTo>
                    <a:pt x="273050" y="133350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01600" y="111125"/>
              <a:ext cx="6096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4900" y="2621180"/>
            <a:ext cx="4017831" cy="701294"/>
          </a:xfrm>
          <a:custGeom>
            <a:avLst/>
            <a:gdLst/>
            <a:ahLst/>
            <a:cxnLst/>
            <a:rect r="r" b="b" t="t" l="l"/>
            <a:pathLst>
              <a:path h="701294" w="4017831">
                <a:moveTo>
                  <a:pt x="0" y="0"/>
                </a:moveTo>
                <a:lnTo>
                  <a:pt x="4017831" y="0"/>
                </a:lnTo>
                <a:lnTo>
                  <a:pt x="4017831" y="701294"/>
                </a:lnTo>
                <a:lnTo>
                  <a:pt x="0" y="70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6917" y="4339987"/>
            <a:ext cx="4318284" cy="771525"/>
            <a:chOff x="0" y="0"/>
            <a:chExt cx="5757713" cy="10287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5757713" cy="1028700"/>
              <a:chOff x="0" y="0"/>
              <a:chExt cx="2274652" cy="406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27465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74652">
                    <a:moveTo>
                      <a:pt x="2071452" y="0"/>
                    </a:moveTo>
                    <a:cubicBezTo>
                      <a:pt x="2183676" y="0"/>
                      <a:pt x="2274652" y="90976"/>
                      <a:pt x="2274652" y="203200"/>
                    </a:cubicBezTo>
                    <a:cubicBezTo>
                      <a:pt x="2274652" y="315424"/>
                      <a:pt x="2183676" y="406400"/>
                      <a:pt x="207145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28575"/>
                <a:ext cx="2274652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890215" y="200480"/>
              <a:ext cx="3977283" cy="580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éditeur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74620" y="6997907"/>
            <a:ext cx="4318284" cy="771525"/>
            <a:chOff x="0" y="0"/>
            <a:chExt cx="5757713" cy="10287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757713" cy="1028700"/>
              <a:chOff x="0" y="0"/>
              <a:chExt cx="2274652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7465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74652">
                    <a:moveTo>
                      <a:pt x="2071452" y="0"/>
                    </a:moveTo>
                    <a:cubicBezTo>
                      <a:pt x="2183676" y="0"/>
                      <a:pt x="2274652" y="90976"/>
                      <a:pt x="2274652" y="203200"/>
                    </a:cubicBezTo>
                    <a:cubicBezTo>
                      <a:pt x="2274652" y="315424"/>
                      <a:pt x="2183676" y="406400"/>
                      <a:pt x="207145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274652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049079" y="200480"/>
              <a:ext cx="3659554" cy="580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UI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28651" y="4339987"/>
            <a:ext cx="4318284" cy="771525"/>
            <a:chOff x="0" y="0"/>
            <a:chExt cx="2274652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4652" cy="406400"/>
            </a:xfrm>
            <a:custGeom>
              <a:avLst/>
              <a:gdLst/>
              <a:ahLst/>
              <a:cxnLst/>
              <a:rect r="r" b="b" t="t" l="l"/>
              <a:pathLst>
                <a:path h="406400" w="2274652">
                  <a:moveTo>
                    <a:pt x="2071452" y="0"/>
                  </a:moveTo>
                  <a:cubicBezTo>
                    <a:pt x="2183676" y="0"/>
                    <a:pt x="2274652" y="90976"/>
                    <a:pt x="2274652" y="203200"/>
                  </a:cubicBezTo>
                  <a:cubicBezTo>
                    <a:pt x="2274652" y="315424"/>
                    <a:pt x="2183676" y="406400"/>
                    <a:pt x="20714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274652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80386" y="4339987"/>
            <a:ext cx="4318284" cy="771525"/>
            <a:chOff x="0" y="0"/>
            <a:chExt cx="2274652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74652" cy="406400"/>
            </a:xfrm>
            <a:custGeom>
              <a:avLst/>
              <a:gdLst/>
              <a:ahLst/>
              <a:cxnLst/>
              <a:rect r="r" b="b" t="t" l="l"/>
              <a:pathLst>
                <a:path h="406400" w="2274652">
                  <a:moveTo>
                    <a:pt x="2071452" y="0"/>
                  </a:moveTo>
                  <a:cubicBezTo>
                    <a:pt x="2183676" y="0"/>
                    <a:pt x="2274652" y="90976"/>
                    <a:pt x="2274652" y="203200"/>
                  </a:cubicBezTo>
                  <a:cubicBezTo>
                    <a:pt x="2274652" y="315424"/>
                    <a:pt x="2183676" y="406400"/>
                    <a:pt x="20714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274652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80386" y="6997907"/>
            <a:ext cx="4318284" cy="771525"/>
            <a:chOff x="0" y="0"/>
            <a:chExt cx="5757713" cy="10287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757713" cy="1028700"/>
              <a:chOff x="0" y="0"/>
              <a:chExt cx="2274652" cy="406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27465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74652">
                    <a:moveTo>
                      <a:pt x="2071452" y="0"/>
                    </a:moveTo>
                    <a:cubicBezTo>
                      <a:pt x="2183676" y="0"/>
                      <a:pt x="2274652" y="90976"/>
                      <a:pt x="2274652" y="203200"/>
                    </a:cubicBezTo>
                    <a:cubicBezTo>
                      <a:pt x="2274652" y="315424"/>
                      <a:pt x="2183676" y="406400"/>
                      <a:pt x="207145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2274652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049079" y="200480"/>
              <a:ext cx="3659554" cy="580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CPU Reset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26355" y="6997907"/>
            <a:ext cx="4318284" cy="771525"/>
            <a:chOff x="0" y="0"/>
            <a:chExt cx="5757713" cy="10287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757713" cy="1028700"/>
              <a:chOff x="0" y="0"/>
              <a:chExt cx="2274652" cy="406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27465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74652">
                    <a:moveTo>
                      <a:pt x="2071452" y="0"/>
                    </a:moveTo>
                    <a:cubicBezTo>
                      <a:pt x="2183676" y="0"/>
                      <a:pt x="2274652" y="90976"/>
                      <a:pt x="2274652" y="203200"/>
                    </a:cubicBezTo>
                    <a:cubicBezTo>
                      <a:pt x="2274652" y="315424"/>
                      <a:pt x="2183676" y="406400"/>
                      <a:pt x="207145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2274652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049079" y="200480"/>
              <a:ext cx="3659554" cy="5801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11"/>
                </a:lnSpc>
                <a:spcBef>
                  <a:spcPct val="0"/>
                </a:spcBef>
              </a:pPr>
              <a:r>
                <a:rPr lang="en-US" b="true" sz="2650" spc="-121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Exécution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897339" y="8379032"/>
            <a:ext cx="1883275" cy="771525"/>
            <a:chOff x="0" y="0"/>
            <a:chExt cx="992013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2013" cy="406400"/>
            </a:xfrm>
            <a:custGeom>
              <a:avLst/>
              <a:gdLst/>
              <a:ahLst/>
              <a:cxnLst/>
              <a:rect r="r" b="b" t="t" l="l"/>
              <a:pathLst>
                <a:path h="406400" w="992013">
                  <a:moveTo>
                    <a:pt x="788813" y="0"/>
                  </a:moveTo>
                  <a:cubicBezTo>
                    <a:pt x="901037" y="0"/>
                    <a:pt x="992013" y="90976"/>
                    <a:pt x="992013" y="203200"/>
                  </a:cubicBezTo>
                  <a:cubicBezTo>
                    <a:pt x="992013" y="315424"/>
                    <a:pt x="901037" y="406400"/>
                    <a:pt x="7888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99201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  <a:r>
                <a:rPr lang="en-US" b="true" sz="1777" spc="-8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Memoire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952064" y="8389901"/>
            <a:ext cx="1883275" cy="771525"/>
            <a:chOff x="0" y="0"/>
            <a:chExt cx="992013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2013" cy="406400"/>
            </a:xfrm>
            <a:custGeom>
              <a:avLst/>
              <a:gdLst/>
              <a:ahLst/>
              <a:cxnLst/>
              <a:rect r="r" b="b" t="t" l="l"/>
              <a:pathLst>
                <a:path h="406400" w="992013">
                  <a:moveTo>
                    <a:pt x="788813" y="0"/>
                  </a:moveTo>
                  <a:cubicBezTo>
                    <a:pt x="901037" y="0"/>
                    <a:pt x="992013" y="90976"/>
                    <a:pt x="992013" y="203200"/>
                  </a:cubicBezTo>
                  <a:cubicBezTo>
                    <a:pt x="992013" y="315424"/>
                    <a:pt x="901037" y="406400"/>
                    <a:pt x="7888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99201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  <a:r>
                <a:rPr lang="en-US" b="true" sz="1777" spc="-8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Fetch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177081" y="8389901"/>
            <a:ext cx="1883275" cy="771525"/>
            <a:chOff x="0" y="0"/>
            <a:chExt cx="992013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92013" cy="406400"/>
            </a:xfrm>
            <a:custGeom>
              <a:avLst/>
              <a:gdLst/>
              <a:ahLst/>
              <a:cxnLst/>
              <a:rect r="r" b="b" t="t" l="l"/>
              <a:pathLst>
                <a:path h="406400" w="992013">
                  <a:moveTo>
                    <a:pt x="788813" y="0"/>
                  </a:moveTo>
                  <a:cubicBezTo>
                    <a:pt x="901037" y="0"/>
                    <a:pt x="992013" y="90976"/>
                    <a:pt x="992013" y="203200"/>
                  </a:cubicBezTo>
                  <a:cubicBezTo>
                    <a:pt x="992013" y="315424"/>
                    <a:pt x="901037" y="406400"/>
                    <a:pt x="7888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99201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  <a:r>
                <a:rPr lang="en-US" b="true" sz="1777" spc="-8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Execute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065206" y="8389901"/>
            <a:ext cx="1883275" cy="771525"/>
            <a:chOff x="0" y="0"/>
            <a:chExt cx="992013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2013" cy="406400"/>
            </a:xfrm>
            <a:custGeom>
              <a:avLst/>
              <a:gdLst/>
              <a:ahLst/>
              <a:cxnLst/>
              <a:rect r="r" b="b" t="t" l="l"/>
              <a:pathLst>
                <a:path h="406400" w="992013">
                  <a:moveTo>
                    <a:pt x="788813" y="0"/>
                  </a:moveTo>
                  <a:cubicBezTo>
                    <a:pt x="901037" y="0"/>
                    <a:pt x="992013" y="90976"/>
                    <a:pt x="992013" y="203200"/>
                  </a:cubicBezTo>
                  <a:cubicBezTo>
                    <a:pt x="992013" y="315424"/>
                    <a:pt x="901037" y="406400"/>
                    <a:pt x="7888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9201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  <a:r>
                <a:rPr lang="en-US" b="true" sz="1777" spc="-8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Decode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599655" y="5618357"/>
            <a:ext cx="2268215" cy="771525"/>
            <a:chOff x="0" y="0"/>
            <a:chExt cx="1194780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9478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4780">
                  <a:moveTo>
                    <a:pt x="991580" y="0"/>
                  </a:moveTo>
                  <a:cubicBezTo>
                    <a:pt x="1103804" y="0"/>
                    <a:pt x="1194780" y="90976"/>
                    <a:pt x="1194780" y="203200"/>
                  </a:cubicBezTo>
                  <a:cubicBezTo>
                    <a:pt x="1194780" y="315424"/>
                    <a:pt x="1103804" y="406400"/>
                    <a:pt x="99158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19478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  <a:r>
                <a:rPr lang="en-US" b="true" sz="1777" spc="-8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code assembleur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853686" y="5618357"/>
            <a:ext cx="2268215" cy="771525"/>
            <a:chOff x="0" y="0"/>
            <a:chExt cx="1194780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9478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4780">
                  <a:moveTo>
                    <a:pt x="991580" y="0"/>
                  </a:moveTo>
                  <a:cubicBezTo>
                    <a:pt x="1103804" y="0"/>
                    <a:pt x="1194780" y="90976"/>
                    <a:pt x="1194780" y="203200"/>
                  </a:cubicBezTo>
                  <a:cubicBezTo>
                    <a:pt x="1194780" y="315424"/>
                    <a:pt x="1103804" y="406400"/>
                    <a:pt x="99158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19478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  <a:r>
                <a:rPr lang="en-US" b="true" sz="1777" spc="-8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bytes + listing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47365" y="8379032"/>
            <a:ext cx="1883275" cy="771525"/>
            <a:chOff x="0" y="0"/>
            <a:chExt cx="992013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92013" cy="406400"/>
            </a:xfrm>
            <a:custGeom>
              <a:avLst/>
              <a:gdLst/>
              <a:ahLst/>
              <a:cxnLst/>
              <a:rect r="r" b="b" t="t" l="l"/>
              <a:pathLst>
                <a:path h="406400" w="992013">
                  <a:moveTo>
                    <a:pt x="788813" y="0"/>
                  </a:moveTo>
                  <a:cubicBezTo>
                    <a:pt x="901037" y="0"/>
                    <a:pt x="992013" y="90976"/>
                    <a:pt x="992013" y="203200"/>
                  </a:cubicBezTo>
                  <a:cubicBezTo>
                    <a:pt x="992013" y="315424"/>
                    <a:pt x="901037" y="406400"/>
                    <a:pt x="78881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284FF">
                    <a:alpha val="100000"/>
                  </a:srgbClr>
                </a:gs>
                <a:gs pos="100000">
                  <a:srgbClr val="000422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992013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  <a:r>
                <a:rPr lang="en-US" b="true" sz="1777" spc="-81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registre/Flags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-10800000">
            <a:off x="6047314" y="4454354"/>
            <a:ext cx="659103" cy="542791"/>
            <a:chOff x="0" y="0"/>
            <a:chExt cx="647700" cy="533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20650" y="136525"/>
              <a:ext cx="527050" cy="2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27020" y="1825486"/>
            <a:ext cx="10881393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7552" spc="-3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CHAÎNE COMPLÈTE DU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727020" y="2864582"/>
            <a:ext cx="6877131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b="true" sz="7552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SIMULATEUR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341601" y="4478440"/>
            <a:ext cx="3531475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Assembler (2 passes)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571752" y="4478440"/>
            <a:ext cx="3531475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Chargement en ROM</a:t>
            </a:r>
          </a:p>
        </p:txBody>
      </p:sp>
      <p:grpSp>
        <p:nvGrpSpPr>
          <p:cNvPr name="Group 59" id="59"/>
          <p:cNvGrpSpPr/>
          <p:nvPr/>
        </p:nvGrpSpPr>
        <p:grpSpPr>
          <a:xfrm rot="-10800000">
            <a:off x="11299336" y="4454354"/>
            <a:ext cx="659103" cy="542791"/>
            <a:chOff x="0" y="0"/>
            <a:chExt cx="647700" cy="533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120650" y="136525"/>
              <a:ext cx="527050" cy="2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-5400000">
            <a:off x="13621137" y="5545446"/>
            <a:ext cx="1236783" cy="1018527"/>
            <a:chOff x="0" y="0"/>
            <a:chExt cx="647700" cy="533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120650" y="136525"/>
              <a:ext cx="527050" cy="2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268464" y="7112274"/>
            <a:ext cx="659103" cy="542791"/>
            <a:chOff x="0" y="0"/>
            <a:chExt cx="647700" cy="533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120650" y="136525"/>
              <a:ext cx="527050" cy="2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14852" y="7112274"/>
            <a:ext cx="659103" cy="542791"/>
            <a:chOff x="0" y="0"/>
            <a:chExt cx="647700" cy="533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120650" y="136525"/>
              <a:ext cx="527050" cy="231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7"/>
                </a:lnSpc>
              </a:pPr>
            </a:p>
          </p:txBody>
        </p:sp>
      </p:grpSp>
      <p:sp>
        <p:nvSpPr>
          <p:cNvPr name="AutoShape 71" id="71"/>
          <p:cNvSpPr/>
          <p:nvPr/>
        </p:nvSpPr>
        <p:spPr>
          <a:xfrm flipH="true">
            <a:off x="3733762" y="5111512"/>
            <a:ext cx="2297" cy="506845"/>
          </a:xfrm>
          <a:prstGeom prst="line">
            <a:avLst/>
          </a:prstGeom>
          <a:ln cap="flat" w="38100">
            <a:solidFill>
              <a:srgbClr val="FF914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2" id="72"/>
          <p:cNvSpPr/>
          <p:nvPr/>
        </p:nvSpPr>
        <p:spPr>
          <a:xfrm flipH="true">
            <a:off x="9004547" y="5111425"/>
            <a:ext cx="2297" cy="506845"/>
          </a:xfrm>
          <a:prstGeom prst="line">
            <a:avLst/>
          </a:prstGeom>
          <a:ln cap="flat" w="38100">
            <a:solidFill>
              <a:srgbClr val="FF914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3" id="73"/>
          <p:cNvSpPr/>
          <p:nvPr/>
        </p:nvSpPr>
        <p:spPr>
          <a:xfrm flipH="true">
            <a:off x="2689002" y="7769518"/>
            <a:ext cx="1028007" cy="609514"/>
          </a:xfrm>
          <a:prstGeom prst="line">
            <a:avLst/>
          </a:prstGeom>
          <a:ln cap="flat" w="38100">
            <a:solidFill>
              <a:srgbClr val="FF914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4" id="74"/>
          <p:cNvSpPr/>
          <p:nvPr/>
        </p:nvSpPr>
        <p:spPr>
          <a:xfrm>
            <a:off x="3733762" y="7769432"/>
            <a:ext cx="1105214" cy="609600"/>
          </a:xfrm>
          <a:prstGeom prst="line">
            <a:avLst/>
          </a:prstGeom>
          <a:ln cap="flat" w="38100">
            <a:solidFill>
              <a:srgbClr val="FF914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5" id="75"/>
          <p:cNvSpPr/>
          <p:nvPr/>
        </p:nvSpPr>
        <p:spPr>
          <a:xfrm flipH="true" flipV="true">
            <a:off x="8985497" y="7769432"/>
            <a:ext cx="21346" cy="620468"/>
          </a:xfrm>
          <a:prstGeom prst="line">
            <a:avLst/>
          </a:prstGeom>
          <a:ln cap="flat" w="38100">
            <a:solidFill>
              <a:srgbClr val="FF914D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AutoShape 76" id="76"/>
          <p:cNvSpPr/>
          <p:nvPr/>
        </p:nvSpPr>
        <p:spPr>
          <a:xfrm>
            <a:off x="7835339" y="8775663"/>
            <a:ext cx="229867" cy="87070"/>
          </a:xfrm>
          <a:prstGeom prst="line">
            <a:avLst/>
          </a:prstGeom>
          <a:ln cap="flat" w="38100">
            <a:solidFill>
              <a:srgbClr val="FF914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7" id="77"/>
          <p:cNvSpPr/>
          <p:nvPr/>
        </p:nvSpPr>
        <p:spPr>
          <a:xfrm flipV="true">
            <a:off x="9948481" y="8738669"/>
            <a:ext cx="260846" cy="36994"/>
          </a:xfrm>
          <a:prstGeom prst="line">
            <a:avLst/>
          </a:prstGeom>
          <a:ln cap="flat" w="38100">
            <a:solidFill>
              <a:srgbClr val="FF914D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8354">
            <a:off x="10731369" y="-42357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63111"/>
            <a:ext cx="13736612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sz="7552" spc="-34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FETCH / DECODE / EXECUTE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1532" y="2432078"/>
            <a:ext cx="8002468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b="true" sz="7552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CYCLE CPU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428308" y="3505231"/>
            <a:ext cx="5431384" cy="4762177"/>
            <a:chOff x="0" y="0"/>
            <a:chExt cx="7241845" cy="63495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01838" y="0"/>
              <a:ext cx="6389503" cy="6349569"/>
            </a:xfrm>
            <a:custGeom>
              <a:avLst/>
              <a:gdLst/>
              <a:ahLst/>
              <a:cxnLst/>
              <a:rect r="r" b="b" t="t" l="l"/>
              <a:pathLst>
                <a:path h="6349569" w="6389503">
                  <a:moveTo>
                    <a:pt x="0" y="0"/>
                  </a:moveTo>
                  <a:lnTo>
                    <a:pt x="6389504" y="0"/>
                  </a:lnTo>
                  <a:lnTo>
                    <a:pt x="6389504" y="6349569"/>
                  </a:lnTo>
                  <a:lnTo>
                    <a:pt x="0" y="634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-3783832">
              <a:off x="-225148" y="1395996"/>
              <a:ext cx="2945039" cy="1492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781"/>
                </a:lnSpc>
              </a:pPr>
              <a:r>
                <a:rPr lang="en-US" sz="5558" b="true">
                  <a:solidFill>
                    <a:srgbClr val="EBF5F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Fetch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3981133">
              <a:off x="3820474" y="1290978"/>
              <a:ext cx="3892085" cy="17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781"/>
                </a:lnSpc>
              </a:pPr>
              <a:r>
                <a:rPr lang="en-US" sz="5558" b="true">
                  <a:solidFill>
                    <a:srgbClr val="EBF5F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Decode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83369" y="4481197"/>
              <a:ext cx="4026442" cy="1747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781"/>
                </a:lnSpc>
              </a:pPr>
              <a:r>
                <a:rPr lang="en-US" sz="5558" b="true">
                  <a:solidFill>
                    <a:srgbClr val="EBF5F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Execute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734225" y="4532828"/>
            <a:ext cx="6290731" cy="1180045"/>
            <a:chOff x="0" y="0"/>
            <a:chExt cx="8387642" cy="157339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8387642" cy="1573394"/>
              <a:chOff x="0" y="0"/>
              <a:chExt cx="3525436" cy="66131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525436" cy="661318"/>
              </a:xfrm>
              <a:custGeom>
                <a:avLst/>
                <a:gdLst/>
                <a:ahLst/>
                <a:cxnLst/>
                <a:rect r="r" b="b" t="t" l="l"/>
                <a:pathLst>
                  <a:path h="661318" w="3525436">
                    <a:moveTo>
                      <a:pt x="3322236" y="0"/>
                    </a:moveTo>
                    <a:cubicBezTo>
                      <a:pt x="3434460" y="0"/>
                      <a:pt x="3525436" y="148041"/>
                      <a:pt x="3525436" y="330659"/>
                    </a:cubicBezTo>
                    <a:cubicBezTo>
                      <a:pt x="3525436" y="513277"/>
                      <a:pt x="3434460" y="661318"/>
                      <a:pt x="3322236" y="661318"/>
                    </a:cubicBezTo>
                    <a:lnTo>
                      <a:pt x="203200" y="661318"/>
                    </a:lnTo>
                    <a:cubicBezTo>
                      <a:pt x="90976" y="661318"/>
                      <a:pt x="0" y="513277"/>
                      <a:pt x="0" y="330659"/>
                    </a:cubicBezTo>
                    <a:cubicBezTo>
                      <a:pt x="0" y="148041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3525436" cy="6898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44789" y="140661"/>
              <a:ext cx="7601058" cy="12444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 déterminer l’instruction + mode + taille + cycles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57742" y="4574127"/>
            <a:ext cx="6070566" cy="1138746"/>
            <a:chOff x="0" y="0"/>
            <a:chExt cx="8094089" cy="1518328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8094089" cy="1518328"/>
              <a:chOff x="0" y="0"/>
              <a:chExt cx="3525436" cy="66131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525436" cy="661318"/>
              </a:xfrm>
              <a:custGeom>
                <a:avLst/>
                <a:gdLst/>
                <a:ahLst/>
                <a:cxnLst/>
                <a:rect r="r" b="b" t="t" l="l"/>
                <a:pathLst>
                  <a:path h="661318" w="3525436">
                    <a:moveTo>
                      <a:pt x="3322236" y="0"/>
                    </a:moveTo>
                    <a:cubicBezTo>
                      <a:pt x="3434460" y="0"/>
                      <a:pt x="3525436" y="148041"/>
                      <a:pt x="3525436" y="330659"/>
                    </a:cubicBezTo>
                    <a:cubicBezTo>
                      <a:pt x="3525436" y="513277"/>
                      <a:pt x="3434460" y="661318"/>
                      <a:pt x="3322236" y="661318"/>
                    </a:cubicBezTo>
                    <a:lnTo>
                      <a:pt x="203200" y="661318"/>
                    </a:lnTo>
                    <a:cubicBezTo>
                      <a:pt x="90976" y="661318"/>
                      <a:pt x="0" y="513277"/>
                      <a:pt x="0" y="330659"/>
                    </a:cubicBezTo>
                    <a:cubicBezTo>
                      <a:pt x="0" y="148041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3525436" cy="6898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244078" y="134071"/>
              <a:ext cx="5449167" cy="1202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82"/>
                </a:lnSpc>
              </a:pPr>
              <a:r>
                <a:rPr lang="en-US" sz="2630" spc="-120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lire opcode en mémoire </a:t>
              </a:r>
            </a:p>
            <a:p>
              <a:pPr algn="ctr">
                <a:lnSpc>
                  <a:spcPts val="3682"/>
                </a:lnSpc>
              </a:pPr>
              <a:r>
                <a:rPr lang="en-US" sz="2630" spc="-120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à l’adresse PC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712175" y="8399113"/>
            <a:ext cx="6863650" cy="1255471"/>
            <a:chOff x="0" y="0"/>
            <a:chExt cx="9151533" cy="167396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227774" y="0"/>
              <a:ext cx="8923759" cy="1673961"/>
              <a:chOff x="0" y="0"/>
              <a:chExt cx="3525436" cy="66131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525436" cy="661318"/>
              </a:xfrm>
              <a:custGeom>
                <a:avLst/>
                <a:gdLst/>
                <a:ahLst/>
                <a:cxnLst/>
                <a:rect r="r" b="b" t="t" l="l"/>
                <a:pathLst>
                  <a:path h="661318" w="3525436">
                    <a:moveTo>
                      <a:pt x="3322236" y="0"/>
                    </a:moveTo>
                    <a:cubicBezTo>
                      <a:pt x="3434460" y="0"/>
                      <a:pt x="3525436" y="148041"/>
                      <a:pt x="3525436" y="330659"/>
                    </a:cubicBezTo>
                    <a:cubicBezTo>
                      <a:pt x="3525436" y="513277"/>
                      <a:pt x="3434460" y="661318"/>
                      <a:pt x="3322236" y="661318"/>
                    </a:cubicBezTo>
                    <a:lnTo>
                      <a:pt x="203200" y="661318"/>
                    </a:lnTo>
                    <a:cubicBezTo>
                      <a:pt x="90976" y="661318"/>
                      <a:pt x="0" y="513277"/>
                      <a:pt x="0" y="330659"/>
                    </a:cubicBezTo>
                    <a:cubicBezTo>
                      <a:pt x="0" y="148041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3525436" cy="6898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353016"/>
              <a:ext cx="9151533" cy="10698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sz="2328" spc="-107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exécuter (registres/mémoire/flags), puis PC avance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8354">
            <a:off x="10731369" y="-42357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72636"/>
            <a:ext cx="17259300" cy="121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4"/>
              </a:lnSpc>
              <a:spcBef>
                <a:spcPct val="0"/>
              </a:spcBef>
            </a:pPr>
            <a:r>
              <a:rPr lang="en-US" sz="7152" spc="-32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FETCH 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1532" y="2432078"/>
            <a:ext cx="15642759" cy="129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4"/>
              </a:lnSpc>
              <a:spcBef>
                <a:spcPct val="0"/>
              </a:spcBef>
            </a:pPr>
            <a:r>
              <a:rPr lang="en-US" b="true" sz="7552" spc="-347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LECTURE DES BYTES EN MÉMOIRE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079010" y="4397299"/>
            <a:ext cx="4337024" cy="689444"/>
            <a:chOff x="0" y="0"/>
            <a:chExt cx="5782699" cy="91925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782699" cy="919258"/>
              <a:chOff x="0" y="0"/>
              <a:chExt cx="2430544" cy="3863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430544" cy="386376"/>
              </a:xfrm>
              <a:custGeom>
                <a:avLst/>
                <a:gdLst/>
                <a:ahLst/>
                <a:cxnLst/>
                <a:rect r="r" b="b" t="t" l="l"/>
                <a:pathLst>
                  <a:path h="386376" w="2430544">
                    <a:moveTo>
                      <a:pt x="2227344" y="0"/>
                    </a:moveTo>
                    <a:cubicBezTo>
                      <a:pt x="2339568" y="0"/>
                      <a:pt x="2430544" y="86493"/>
                      <a:pt x="2430544" y="193188"/>
                    </a:cubicBezTo>
                    <a:cubicBezTo>
                      <a:pt x="2430544" y="299883"/>
                      <a:pt x="2339568" y="386376"/>
                      <a:pt x="2227344" y="386376"/>
                    </a:cubicBezTo>
                    <a:lnTo>
                      <a:pt x="203200" y="386376"/>
                    </a:lnTo>
                    <a:cubicBezTo>
                      <a:pt x="90976" y="386376"/>
                      <a:pt x="0" y="299883"/>
                      <a:pt x="0" y="193188"/>
                    </a:cubicBezTo>
                    <a:cubicBezTo>
                      <a:pt x="0" y="86493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430544" cy="4149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37708" y="140661"/>
              <a:ext cx="5240404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si  byte0 == 0x10 ou 0x11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2829" y="5492904"/>
            <a:ext cx="4188555" cy="672432"/>
            <a:chOff x="0" y="0"/>
            <a:chExt cx="5584740" cy="89657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584740" cy="896577"/>
              <a:chOff x="0" y="0"/>
              <a:chExt cx="2432472" cy="39051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432471" cy="390510"/>
              </a:xfrm>
              <a:custGeom>
                <a:avLst/>
                <a:gdLst/>
                <a:ahLst/>
                <a:cxnLst/>
                <a:rect r="r" b="b" t="t" l="l"/>
                <a:pathLst>
                  <a:path h="390510" w="2432471">
                    <a:moveTo>
                      <a:pt x="2229271" y="0"/>
                    </a:moveTo>
                    <a:cubicBezTo>
                      <a:pt x="2341496" y="0"/>
                      <a:pt x="2432471" y="87419"/>
                      <a:pt x="2432471" y="195255"/>
                    </a:cubicBezTo>
                    <a:cubicBezTo>
                      <a:pt x="2432471" y="303091"/>
                      <a:pt x="2341496" y="390510"/>
                      <a:pt x="2229271" y="390510"/>
                    </a:cubicBezTo>
                    <a:lnTo>
                      <a:pt x="203200" y="390510"/>
                    </a:lnTo>
                    <a:cubicBezTo>
                      <a:pt x="90976" y="390510"/>
                      <a:pt x="0" y="303091"/>
                      <a:pt x="0" y="195255"/>
                    </a:cubicBezTo>
                    <a:cubicBezTo>
                      <a:pt x="0" y="87419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2432472" cy="41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80191" y="134070"/>
              <a:ext cx="4805599" cy="580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82"/>
                </a:lnSpc>
              </a:pPr>
              <a:r>
                <a:rPr lang="en-US" sz="2630" spc="-120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lire </a:t>
              </a:r>
              <a:r>
                <a:rPr lang="en-US" sz="2630" spc="-120">
                  <a:solidFill>
                    <a:srgbClr val="FF914D"/>
                  </a:solidFill>
                  <a:latin typeface="Garet"/>
                  <a:ea typeface="Garet"/>
                  <a:cs typeface="Garet"/>
                  <a:sym typeface="Garet"/>
                </a:rPr>
                <a:t>byte0 = mem[PC]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964380" y="6506182"/>
            <a:ext cx="6863650" cy="735677"/>
            <a:chOff x="0" y="0"/>
            <a:chExt cx="9151533" cy="980903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1422702" y="0"/>
              <a:ext cx="6079830" cy="980903"/>
              <a:chOff x="0" y="0"/>
              <a:chExt cx="2401908" cy="38751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401908" cy="387517"/>
              </a:xfrm>
              <a:custGeom>
                <a:avLst/>
                <a:gdLst/>
                <a:ahLst/>
                <a:cxnLst/>
                <a:rect r="r" b="b" t="t" l="l"/>
                <a:pathLst>
                  <a:path h="387517" w="2401908">
                    <a:moveTo>
                      <a:pt x="2198708" y="0"/>
                    </a:moveTo>
                    <a:cubicBezTo>
                      <a:pt x="2310932" y="0"/>
                      <a:pt x="2401908" y="86749"/>
                      <a:pt x="2401908" y="193759"/>
                    </a:cubicBezTo>
                    <a:cubicBezTo>
                      <a:pt x="2401908" y="300769"/>
                      <a:pt x="2310932" y="387517"/>
                      <a:pt x="2198708" y="387517"/>
                    </a:cubicBezTo>
                    <a:lnTo>
                      <a:pt x="203200" y="387517"/>
                    </a:lnTo>
                    <a:cubicBezTo>
                      <a:pt x="90976" y="387517"/>
                      <a:pt x="0" y="300769"/>
                      <a:pt x="0" y="193759"/>
                    </a:cubicBezTo>
                    <a:cubicBezTo>
                      <a:pt x="0" y="86749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401908" cy="4160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185726"/>
              <a:ext cx="9151533" cy="5193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9"/>
                </a:lnSpc>
                <a:spcBef>
                  <a:spcPct val="0"/>
                </a:spcBef>
              </a:pPr>
              <a:r>
                <a:rPr lang="en-US" sz="2328" spc="-107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sinon opcode simple (1 byte)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447270" y="4397299"/>
            <a:ext cx="4337024" cy="753444"/>
            <a:chOff x="0" y="0"/>
            <a:chExt cx="5782699" cy="100459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782699" cy="1004591"/>
              <a:chOff x="0" y="0"/>
              <a:chExt cx="2430544" cy="42224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430544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2430544">
                    <a:moveTo>
                      <a:pt x="2227344" y="0"/>
                    </a:moveTo>
                    <a:cubicBezTo>
                      <a:pt x="2339568" y="0"/>
                      <a:pt x="2430544" y="94522"/>
                      <a:pt x="2430544" y="211121"/>
                    </a:cubicBezTo>
                    <a:cubicBezTo>
                      <a:pt x="2430544" y="327721"/>
                      <a:pt x="2339568" y="422243"/>
                      <a:pt x="2227344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2430544" cy="450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37708" y="140661"/>
              <a:ext cx="5544991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opcode préfixé (2 bytes)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V="true">
            <a:off x="4851003" y="4742021"/>
            <a:ext cx="1228007" cy="108709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4761383" y="5829120"/>
            <a:ext cx="1317626" cy="104490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>
            <a:off x="10416034" y="4742021"/>
            <a:ext cx="988908" cy="10985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8354">
            <a:off x="10731369" y="-42357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0120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72636"/>
            <a:ext cx="17259300" cy="121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4"/>
              </a:lnSpc>
              <a:spcBef>
                <a:spcPct val="0"/>
              </a:spcBef>
            </a:pPr>
            <a:r>
              <a:rPr lang="en-US" sz="7152" spc="-32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DECODE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36593"/>
            <a:ext cx="16736118" cy="11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4"/>
              </a:lnSpc>
              <a:spcBef>
                <a:spcPct val="0"/>
              </a:spcBef>
            </a:pPr>
            <a:r>
              <a:rPr lang="en-US" b="true" sz="6452" spc="-296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DECODER + DECODEDINSTRUCTION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321326" y="5492904"/>
            <a:ext cx="4337024" cy="689444"/>
            <a:chOff x="0" y="0"/>
            <a:chExt cx="5782699" cy="91925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782699" cy="919258"/>
              <a:chOff x="0" y="0"/>
              <a:chExt cx="2430544" cy="3863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430544" cy="386376"/>
              </a:xfrm>
              <a:custGeom>
                <a:avLst/>
                <a:gdLst/>
                <a:ahLst/>
                <a:cxnLst/>
                <a:rect r="r" b="b" t="t" l="l"/>
                <a:pathLst>
                  <a:path h="386376" w="2430544">
                    <a:moveTo>
                      <a:pt x="2227344" y="0"/>
                    </a:moveTo>
                    <a:cubicBezTo>
                      <a:pt x="2339568" y="0"/>
                      <a:pt x="2430544" y="86493"/>
                      <a:pt x="2430544" y="193188"/>
                    </a:cubicBezTo>
                    <a:cubicBezTo>
                      <a:pt x="2430544" y="299883"/>
                      <a:pt x="2339568" y="386376"/>
                      <a:pt x="2227344" y="386376"/>
                    </a:cubicBezTo>
                    <a:lnTo>
                      <a:pt x="203200" y="386376"/>
                    </a:lnTo>
                    <a:cubicBezTo>
                      <a:pt x="90976" y="386376"/>
                      <a:pt x="0" y="299883"/>
                      <a:pt x="0" y="193188"/>
                    </a:cubicBezTo>
                    <a:cubicBezTo>
                      <a:pt x="0" y="86493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430544" cy="4149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37708" y="140661"/>
              <a:ext cx="5240404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DecodedInstruction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2829" y="5492904"/>
            <a:ext cx="4188555" cy="672432"/>
            <a:chOff x="0" y="0"/>
            <a:chExt cx="5584740" cy="89657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584740" cy="896577"/>
              <a:chOff x="0" y="0"/>
              <a:chExt cx="2432472" cy="39051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432471" cy="390510"/>
              </a:xfrm>
              <a:custGeom>
                <a:avLst/>
                <a:gdLst/>
                <a:ahLst/>
                <a:cxnLst/>
                <a:rect r="r" b="b" t="t" l="l"/>
                <a:pathLst>
                  <a:path h="390510" w="2432471">
                    <a:moveTo>
                      <a:pt x="2229271" y="0"/>
                    </a:moveTo>
                    <a:cubicBezTo>
                      <a:pt x="2341496" y="0"/>
                      <a:pt x="2432471" y="87419"/>
                      <a:pt x="2432471" y="195255"/>
                    </a:cubicBezTo>
                    <a:cubicBezTo>
                      <a:pt x="2432471" y="303091"/>
                      <a:pt x="2341496" y="390510"/>
                      <a:pt x="2229271" y="390510"/>
                    </a:cubicBezTo>
                    <a:lnTo>
                      <a:pt x="203200" y="390510"/>
                    </a:lnTo>
                    <a:cubicBezTo>
                      <a:pt x="90976" y="390510"/>
                      <a:pt x="0" y="303091"/>
                      <a:pt x="0" y="195255"/>
                    </a:cubicBezTo>
                    <a:cubicBezTo>
                      <a:pt x="0" y="87419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2432472" cy="41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80191" y="134070"/>
              <a:ext cx="4805599" cy="580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82"/>
                </a:lnSpc>
              </a:pPr>
              <a:r>
                <a:rPr lang="en-US" sz="2630" spc="-120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Decoder (decodeAt)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156748" y="3652529"/>
            <a:ext cx="4337024" cy="753444"/>
            <a:chOff x="0" y="0"/>
            <a:chExt cx="5782699" cy="100459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782699" cy="1004591"/>
              <a:chOff x="0" y="0"/>
              <a:chExt cx="2430544" cy="42224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430544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2430544">
                    <a:moveTo>
                      <a:pt x="2227344" y="0"/>
                    </a:moveTo>
                    <a:cubicBezTo>
                      <a:pt x="2339568" y="0"/>
                      <a:pt x="2430544" y="94522"/>
                      <a:pt x="2430544" y="211121"/>
                    </a:cubicBezTo>
                    <a:cubicBezTo>
                      <a:pt x="2430544" y="327721"/>
                      <a:pt x="2339568" y="422243"/>
                      <a:pt x="2227344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430544" cy="450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37708" y="140661"/>
              <a:ext cx="5544991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mnemonic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4761383" y="5829120"/>
            <a:ext cx="559942" cy="850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 flipV="true">
            <a:off x="9658350" y="4029251"/>
            <a:ext cx="498398" cy="180837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10155879" y="4769381"/>
            <a:ext cx="4337024" cy="753444"/>
            <a:chOff x="0" y="0"/>
            <a:chExt cx="5782699" cy="100459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5782699" cy="1004591"/>
              <a:chOff x="0" y="0"/>
              <a:chExt cx="2430544" cy="42224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430544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2430544">
                    <a:moveTo>
                      <a:pt x="2227344" y="0"/>
                    </a:moveTo>
                    <a:cubicBezTo>
                      <a:pt x="2339568" y="0"/>
                      <a:pt x="2430544" y="94522"/>
                      <a:pt x="2430544" y="211121"/>
                    </a:cubicBezTo>
                    <a:cubicBezTo>
                      <a:pt x="2430544" y="327721"/>
                      <a:pt x="2339568" y="422243"/>
                      <a:pt x="2227344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2430544" cy="450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37708" y="140661"/>
              <a:ext cx="5544991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mode d’adressage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9716974" y="5146102"/>
            <a:ext cx="438906" cy="76020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10174751" y="5994233"/>
            <a:ext cx="4337024" cy="753444"/>
            <a:chOff x="0" y="0"/>
            <a:chExt cx="5782699" cy="1004591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5782699" cy="1004591"/>
              <a:chOff x="0" y="0"/>
              <a:chExt cx="2430544" cy="42224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430544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2430544">
                    <a:moveTo>
                      <a:pt x="2227344" y="0"/>
                    </a:moveTo>
                    <a:cubicBezTo>
                      <a:pt x="2339568" y="0"/>
                      <a:pt x="2430544" y="94522"/>
                      <a:pt x="2430544" y="211121"/>
                    </a:cubicBezTo>
                    <a:cubicBezTo>
                      <a:pt x="2430544" y="327721"/>
                      <a:pt x="2339568" y="422243"/>
                      <a:pt x="2227344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28575"/>
                <a:ext cx="2430544" cy="450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237708" y="140661"/>
              <a:ext cx="5544991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size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9778986" y="5994233"/>
            <a:ext cx="395765" cy="37672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8" id="38"/>
          <p:cNvGrpSpPr/>
          <p:nvPr/>
        </p:nvGrpSpPr>
        <p:grpSpPr>
          <a:xfrm rot="0">
            <a:off x="10174751" y="7070746"/>
            <a:ext cx="4337024" cy="753444"/>
            <a:chOff x="0" y="0"/>
            <a:chExt cx="5782699" cy="1004591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5782699" cy="1004591"/>
              <a:chOff x="0" y="0"/>
              <a:chExt cx="2430544" cy="42224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430544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2430544">
                    <a:moveTo>
                      <a:pt x="2227344" y="0"/>
                    </a:moveTo>
                    <a:cubicBezTo>
                      <a:pt x="2339568" y="0"/>
                      <a:pt x="2430544" y="94522"/>
                      <a:pt x="2430544" y="211121"/>
                    </a:cubicBezTo>
                    <a:cubicBezTo>
                      <a:pt x="2430544" y="327721"/>
                      <a:pt x="2339568" y="422243"/>
                      <a:pt x="2227344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28575"/>
                <a:ext cx="2430544" cy="450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237708" y="140661"/>
              <a:ext cx="5544991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cycle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9658350" y="5952202"/>
            <a:ext cx="516401" cy="149526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4" id="44"/>
          <p:cNvGrpSpPr/>
          <p:nvPr/>
        </p:nvGrpSpPr>
        <p:grpSpPr>
          <a:xfrm rot="0">
            <a:off x="10174751" y="8138795"/>
            <a:ext cx="4337024" cy="753444"/>
            <a:chOff x="0" y="0"/>
            <a:chExt cx="5782699" cy="1004591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5782699" cy="1004591"/>
              <a:chOff x="0" y="0"/>
              <a:chExt cx="2430544" cy="42224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430544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2430544">
                    <a:moveTo>
                      <a:pt x="2227344" y="0"/>
                    </a:moveTo>
                    <a:cubicBezTo>
                      <a:pt x="2339568" y="0"/>
                      <a:pt x="2430544" y="94522"/>
                      <a:pt x="2430544" y="211121"/>
                    </a:cubicBezTo>
                    <a:cubicBezTo>
                      <a:pt x="2430544" y="327721"/>
                      <a:pt x="2339568" y="422243"/>
                      <a:pt x="2227344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28575"/>
                <a:ext cx="2430544" cy="450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237708" y="140661"/>
              <a:ext cx="5544991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operant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>
            <a:off x="9658350" y="5837626"/>
            <a:ext cx="497529" cy="260466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8354">
            <a:off x="10731369" y="-42357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021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72636"/>
            <a:ext cx="17259300" cy="121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4"/>
              </a:lnSpc>
              <a:spcBef>
                <a:spcPct val="0"/>
              </a:spcBef>
            </a:pPr>
            <a:r>
              <a:rPr lang="en-US" sz="7152" spc="-32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EXECUTE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36593"/>
            <a:ext cx="16736118" cy="22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4"/>
              </a:lnSpc>
              <a:spcBef>
                <a:spcPct val="0"/>
              </a:spcBef>
            </a:pPr>
            <a:r>
              <a:rPr lang="en-US" b="true" sz="6452" spc="-296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INSTRUCTIONEXECUTOR + GROUPES D’INSTRUCTIONS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01532" y="5492904"/>
            <a:ext cx="3655915" cy="689444"/>
            <a:chOff x="0" y="0"/>
            <a:chExt cx="4874554" cy="91925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874554" cy="919258"/>
              <a:chOff x="0" y="0"/>
              <a:chExt cx="2048839" cy="3863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48839" cy="386376"/>
              </a:xfrm>
              <a:custGeom>
                <a:avLst/>
                <a:gdLst/>
                <a:ahLst/>
                <a:cxnLst/>
                <a:rect r="r" b="b" t="t" l="l"/>
                <a:pathLst>
                  <a:path h="386376" w="2048839">
                    <a:moveTo>
                      <a:pt x="1845639" y="0"/>
                    </a:moveTo>
                    <a:cubicBezTo>
                      <a:pt x="1957863" y="0"/>
                      <a:pt x="2048839" y="86493"/>
                      <a:pt x="2048839" y="193188"/>
                    </a:cubicBezTo>
                    <a:cubicBezTo>
                      <a:pt x="2048839" y="299883"/>
                      <a:pt x="1957863" y="386376"/>
                      <a:pt x="1845639" y="386376"/>
                    </a:cubicBezTo>
                    <a:lnTo>
                      <a:pt x="203200" y="386376"/>
                    </a:lnTo>
                    <a:cubicBezTo>
                      <a:pt x="90976" y="386376"/>
                      <a:pt x="0" y="299883"/>
                      <a:pt x="0" y="193188"/>
                    </a:cubicBezTo>
                    <a:cubicBezTo>
                      <a:pt x="0" y="86493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048839" cy="4149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0377" y="140661"/>
              <a:ext cx="4417423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InstructionExecutor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2829" y="5492904"/>
            <a:ext cx="3740457" cy="672432"/>
            <a:chOff x="0" y="0"/>
            <a:chExt cx="4987276" cy="89657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987276" cy="896577"/>
              <a:chOff x="0" y="0"/>
              <a:chExt cx="2172242" cy="39051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72242" cy="390510"/>
              </a:xfrm>
              <a:custGeom>
                <a:avLst/>
                <a:gdLst/>
                <a:ahLst/>
                <a:cxnLst/>
                <a:rect r="r" b="b" t="t" l="l"/>
                <a:pathLst>
                  <a:path h="390510" w="2172242">
                    <a:moveTo>
                      <a:pt x="1969042" y="0"/>
                    </a:moveTo>
                    <a:cubicBezTo>
                      <a:pt x="2081266" y="0"/>
                      <a:pt x="2172242" y="87419"/>
                      <a:pt x="2172242" y="195255"/>
                    </a:cubicBezTo>
                    <a:cubicBezTo>
                      <a:pt x="2172242" y="303091"/>
                      <a:pt x="2081266" y="390510"/>
                      <a:pt x="1969042" y="390510"/>
                    </a:cubicBezTo>
                    <a:lnTo>
                      <a:pt x="203200" y="390510"/>
                    </a:lnTo>
                    <a:cubicBezTo>
                      <a:pt x="90976" y="390510"/>
                      <a:pt x="0" y="303091"/>
                      <a:pt x="0" y="195255"/>
                    </a:cubicBezTo>
                    <a:cubicBezTo>
                      <a:pt x="0" y="87419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2172242" cy="41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39517" y="134070"/>
              <a:ext cx="4291489" cy="580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82"/>
                </a:lnSpc>
              </a:pPr>
              <a:r>
                <a:rPr lang="en-US" sz="2630" spc="-120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DecodedInstruction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943222" y="5460904"/>
            <a:ext cx="3279513" cy="753444"/>
            <a:chOff x="0" y="0"/>
            <a:chExt cx="4372684" cy="100459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372684" cy="1004591"/>
              <a:chOff x="0" y="0"/>
              <a:chExt cx="1837896" cy="42224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837896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1837896">
                    <a:moveTo>
                      <a:pt x="1634696" y="0"/>
                    </a:moveTo>
                    <a:cubicBezTo>
                      <a:pt x="1746921" y="0"/>
                      <a:pt x="1837896" y="94522"/>
                      <a:pt x="1837896" y="211121"/>
                    </a:cubicBezTo>
                    <a:cubicBezTo>
                      <a:pt x="1837896" y="327721"/>
                      <a:pt x="1746921" y="422243"/>
                      <a:pt x="1634696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837896" cy="450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37708" y="140661"/>
              <a:ext cx="3800396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choisit le groupe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4313285" y="5829120"/>
            <a:ext cx="488247" cy="850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>
            <a:off x="8457447" y="5837626"/>
            <a:ext cx="4857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12708510" y="5411893"/>
            <a:ext cx="2239925" cy="753444"/>
            <a:chOff x="0" y="0"/>
            <a:chExt cx="2986567" cy="100459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986567" cy="1004591"/>
              <a:chOff x="0" y="0"/>
              <a:chExt cx="1255293" cy="42224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255293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1255293">
                    <a:moveTo>
                      <a:pt x="1052093" y="0"/>
                    </a:moveTo>
                    <a:cubicBezTo>
                      <a:pt x="1164317" y="0"/>
                      <a:pt x="1255293" y="94522"/>
                      <a:pt x="1255293" y="211121"/>
                    </a:cubicBezTo>
                    <a:cubicBezTo>
                      <a:pt x="1255293" y="327721"/>
                      <a:pt x="1164317" y="422243"/>
                      <a:pt x="1052093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1255293" cy="450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62356" y="140661"/>
              <a:ext cx="2595691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Executer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53348" y="331653"/>
              <a:ext cx="2595691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2222735" y="5788615"/>
            <a:ext cx="4857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15434211" y="5411893"/>
            <a:ext cx="2239925" cy="753444"/>
            <a:chOff x="0" y="0"/>
            <a:chExt cx="2986567" cy="100459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2986567" cy="1004591"/>
              <a:chOff x="0" y="0"/>
              <a:chExt cx="1255293" cy="42224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255293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1255293">
                    <a:moveTo>
                      <a:pt x="1052093" y="0"/>
                    </a:moveTo>
                    <a:cubicBezTo>
                      <a:pt x="1164317" y="0"/>
                      <a:pt x="1255293" y="94522"/>
                      <a:pt x="1255293" y="211121"/>
                    </a:cubicBezTo>
                    <a:cubicBezTo>
                      <a:pt x="1255293" y="327721"/>
                      <a:pt x="1164317" y="422243"/>
                      <a:pt x="1052093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1255293" cy="450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62356" y="140661"/>
              <a:ext cx="2595691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Cycles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53348" y="331653"/>
              <a:ext cx="2595691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9" id="39"/>
          <p:cNvSpPr/>
          <p:nvPr/>
        </p:nvSpPr>
        <p:spPr>
          <a:xfrm>
            <a:off x="14948436" y="5788615"/>
            <a:ext cx="4857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8354">
            <a:off x="10731369" y="-42357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022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72636"/>
            <a:ext cx="17259300" cy="121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4"/>
              </a:lnSpc>
              <a:spcBef>
                <a:spcPct val="0"/>
              </a:spcBef>
            </a:pPr>
            <a:r>
              <a:rPr lang="en-US" sz="7152" spc="-32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36593"/>
            <a:ext cx="16736118" cy="22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4"/>
              </a:lnSpc>
              <a:spcBef>
                <a:spcPct val="0"/>
              </a:spcBef>
            </a:pPr>
            <a:r>
              <a:rPr lang="en-US" b="true" sz="6452" spc="-296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MISE À JOUR PC + CYCLES + CONDITIONS D’ARRÊT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572261" y="5717749"/>
            <a:ext cx="2670100" cy="689444"/>
            <a:chOff x="0" y="0"/>
            <a:chExt cx="3560133" cy="91925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560133" cy="919258"/>
              <a:chOff x="0" y="0"/>
              <a:chExt cx="1496370" cy="3863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96370" cy="386376"/>
              </a:xfrm>
              <a:custGeom>
                <a:avLst/>
                <a:gdLst/>
                <a:ahLst/>
                <a:cxnLst/>
                <a:rect r="r" b="b" t="t" l="l"/>
                <a:pathLst>
                  <a:path h="386376" w="1496370">
                    <a:moveTo>
                      <a:pt x="1293170" y="0"/>
                    </a:moveTo>
                    <a:cubicBezTo>
                      <a:pt x="1405395" y="0"/>
                      <a:pt x="1496370" y="86493"/>
                      <a:pt x="1496370" y="193188"/>
                    </a:cubicBezTo>
                    <a:cubicBezTo>
                      <a:pt x="1496370" y="299883"/>
                      <a:pt x="1405395" y="386376"/>
                      <a:pt x="1293170" y="386376"/>
                    </a:cubicBezTo>
                    <a:lnTo>
                      <a:pt x="203200" y="386376"/>
                    </a:lnTo>
                    <a:cubicBezTo>
                      <a:pt x="90976" y="386376"/>
                      <a:pt x="0" y="299883"/>
                      <a:pt x="0" y="193188"/>
                    </a:cubicBezTo>
                    <a:cubicBezTo>
                      <a:pt x="0" y="86493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1496370" cy="4149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46346" y="140661"/>
              <a:ext cx="3226267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PC ← nextPC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8356" y="5658538"/>
            <a:ext cx="4744196" cy="780654"/>
            <a:chOff x="0" y="0"/>
            <a:chExt cx="6325595" cy="104087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325595" cy="1040872"/>
              <a:chOff x="0" y="0"/>
              <a:chExt cx="2755156" cy="45335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755156" cy="453359"/>
              </a:xfrm>
              <a:custGeom>
                <a:avLst/>
                <a:gdLst/>
                <a:ahLst/>
                <a:cxnLst/>
                <a:rect r="r" b="b" t="t" l="l"/>
                <a:pathLst>
                  <a:path h="453359" w="2755156">
                    <a:moveTo>
                      <a:pt x="2551956" y="0"/>
                    </a:moveTo>
                    <a:cubicBezTo>
                      <a:pt x="2664180" y="0"/>
                      <a:pt x="2755156" y="101488"/>
                      <a:pt x="2755156" y="226680"/>
                    </a:cubicBezTo>
                    <a:cubicBezTo>
                      <a:pt x="2755156" y="351871"/>
                      <a:pt x="2664180" y="453359"/>
                      <a:pt x="2551956" y="453359"/>
                    </a:cubicBezTo>
                    <a:lnTo>
                      <a:pt x="203200" y="453359"/>
                    </a:lnTo>
                    <a:cubicBezTo>
                      <a:pt x="90976" y="453359"/>
                      <a:pt x="0" y="351871"/>
                      <a:pt x="0" y="226680"/>
                    </a:cubicBezTo>
                    <a:cubicBezTo>
                      <a:pt x="0" y="101488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2755156" cy="481934"/>
              </a:xfrm>
              <a:prstGeom prst="rect">
                <a:avLst/>
              </a:prstGeom>
            </p:spPr>
            <p:txBody>
              <a:bodyPr anchor="ctr" rtlCol="false" tIns="46077" lIns="46077" bIns="46077" rIns="46077"/>
              <a:lstStyle/>
              <a:p>
                <a:pPr algn="l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14213" y="206218"/>
              <a:ext cx="5897169" cy="580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82"/>
                </a:lnSpc>
              </a:pPr>
              <a:r>
                <a:rPr lang="en-US" sz="2630" spc="-120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cycles += cycles instruction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674364" y="5685749"/>
            <a:ext cx="3279513" cy="753444"/>
            <a:chOff x="0" y="0"/>
            <a:chExt cx="4372684" cy="100459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372684" cy="1004591"/>
              <a:chOff x="0" y="0"/>
              <a:chExt cx="1837896" cy="42224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837896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1837896">
                    <a:moveTo>
                      <a:pt x="1634696" y="0"/>
                    </a:moveTo>
                    <a:cubicBezTo>
                      <a:pt x="1746921" y="0"/>
                      <a:pt x="1837896" y="94522"/>
                      <a:pt x="1837896" y="211121"/>
                    </a:cubicBezTo>
                    <a:cubicBezTo>
                      <a:pt x="1837896" y="327721"/>
                      <a:pt x="1746921" y="422243"/>
                      <a:pt x="1634696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1837896" cy="450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37708" y="140661"/>
              <a:ext cx="3800396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arrêt possible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8242360" y="6062470"/>
            <a:ext cx="43200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2739158" y="4305791"/>
            <a:ext cx="4045134" cy="753444"/>
            <a:chOff x="0" y="0"/>
            <a:chExt cx="5393511" cy="100459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393511" cy="1004591"/>
              <a:chOff x="0" y="0"/>
              <a:chExt cx="2266963" cy="42224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266963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2266963">
                    <a:moveTo>
                      <a:pt x="2063763" y="0"/>
                    </a:moveTo>
                    <a:cubicBezTo>
                      <a:pt x="2175988" y="0"/>
                      <a:pt x="2266963" y="94522"/>
                      <a:pt x="2266963" y="211121"/>
                    </a:cubicBezTo>
                    <a:cubicBezTo>
                      <a:pt x="2266963" y="327721"/>
                      <a:pt x="2175988" y="422243"/>
                      <a:pt x="2063763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2266963" cy="450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93203" y="140661"/>
              <a:ext cx="4687619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BreakPoint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638120" y="331653"/>
              <a:ext cx="4687619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11953876" y="4682513"/>
            <a:ext cx="785281" cy="137995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2" id="32"/>
          <p:cNvGrpSpPr/>
          <p:nvPr/>
        </p:nvGrpSpPr>
        <p:grpSpPr>
          <a:xfrm rot="0">
            <a:off x="12824325" y="5658538"/>
            <a:ext cx="3979444" cy="753444"/>
            <a:chOff x="0" y="0"/>
            <a:chExt cx="2230150" cy="4222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30150" cy="422243"/>
            </a:xfrm>
            <a:custGeom>
              <a:avLst/>
              <a:gdLst/>
              <a:ahLst/>
              <a:cxnLst/>
              <a:rect r="r" b="b" t="t" l="l"/>
              <a:pathLst>
                <a:path h="422243" w="2230150">
                  <a:moveTo>
                    <a:pt x="2026950" y="0"/>
                  </a:moveTo>
                  <a:cubicBezTo>
                    <a:pt x="2139174" y="0"/>
                    <a:pt x="2230150" y="94522"/>
                    <a:pt x="2230150" y="211121"/>
                  </a:cubicBezTo>
                  <a:cubicBezTo>
                    <a:pt x="2230150" y="327721"/>
                    <a:pt x="2139174" y="422243"/>
                    <a:pt x="2026950" y="422243"/>
                  </a:cubicBezTo>
                  <a:lnTo>
                    <a:pt x="203200" y="422243"/>
                  </a:lnTo>
                  <a:cubicBezTo>
                    <a:pt x="90976" y="422243"/>
                    <a:pt x="0" y="327721"/>
                    <a:pt x="0" y="211121"/>
                  </a:cubicBezTo>
                  <a:cubicBezTo>
                    <a:pt x="0" y="94522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230150" cy="450818"/>
            </a:xfrm>
            <a:prstGeom prst="rect">
              <a:avLst/>
            </a:prstGeom>
          </p:spPr>
          <p:txBody>
            <a:bodyPr anchor="ctr" rtlCol="false" tIns="47748" lIns="47748" bIns="47748" rIns="47748"/>
            <a:lstStyle/>
            <a:p>
              <a:pPr algn="r">
                <a:lnSpc>
                  <a:spcPts val="2487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040656" y="5752127"/>
            <a:ext cx="3713110" cy="45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6"/>
              </a:lnSpc>
              <a:spcBef>
                <a:spcPct val="0"/>
              </a:spcBef>
            </a:pPr>
            <a:r>
              <a:rPr lang="en-US" sz="2725" spc="-12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Fin du programme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95143" y="5752127"/>
            <a:ext cx="286088" cy="45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6"/>
              </a:lnSpc>
              <a:spcBef>
                <a:spcPct val="0"/>
              </a:spcBef>
            </a:pPr>
          </a:p>
        </p:txBody>
      </p:sp>
      <p:sp>
        <p:nvSpPr>
          <p:cNvPr name="AutoShape 37" id="37"/>
          <p:cNvSpPr/>
          <p:nvPr/>
        </p:nvSpPr>
        <p:spPr>
          <a:xfrm flipV="true">
            <a:off x="12015919" y="6035260"/>
            <a:ext cx="808406" cy="17150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>
            <a:off x="5192552" y="6081520"/>
            <a:ext cx="37970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9" id="39"/>
          <p:cNvGrpSpPr/>
          <p:nvPr/>
        </p:nvGrpSpPr>
        <p:grpSpPr>
          <a:xfrm rot="0">
            <a:off x="12804847" y="6928272"/>
            <a:ext cx="3979444" cy="753444"/>
            <a:chOff x="0" y="0"/>
            <a:chExt cx="5305926" cy="1004591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5305926" cy="1004591"/>
              <a:chOff x="0" y="0"/>
              <a:chExt cx="2230150" cy="42224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230150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2230150">
                    <a:moveTo>
                      <a:pt x="2026950" y="0"/>
                    </a:moveTo>
                    <a:cubicBezTo>
                      <a:pt x="2139174" y="0"/>
                      <a:pt x="2230150" y="94522"/>
                      <a:pt x="2230150" y="211121"/>
                    </a:cubicBezTo>
                    <a:cubicBezTo>
                      <a:pt x="2230150" y="327721"/>
                      <a:pt x="2139174" y="422243"/>
                      <a:pt x="2026950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2230150" cy="450818"/>
              </a:xfrm>
              <a:prstGeom prst="rect">
                <a:avLst/>
              </a:prstGeom>
            </p:spPr>
            <p:txBody>
              <a:bodyPr anchor="ctr" rtlCol="false" tIns="47748" lIns="47748" bIns="47748" rIns="47748"/>
              <a:lstStyle/>
              <a:p>
                <a:pPr algn="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288441" y="140661"/>
              <a:ext cx="4950813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Erreur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627758" y="140661"/>
              <a:ext cx="381451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45" id="45"/>
          <p:cNvSpPr/>
          <p:nvPr/>
        </p:nvSpPr>
        <p:spPr>
          <a:xfrm>
            <a:off x="11953876" y="6062470"/>
            <a:ext cx="850971" cy="124252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8354">
            <a:off x="10731369" y="-42357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023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72636"/>
            <a:ext cx="17259300" cy="121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4"/>
              </a:lnSpc>
              <a:spcBef>
                <a:spcPct val="0"/>
              </a:spcBef>
            </a:pPr>
            <a:r>
              <a:rPr lang="en-US" sz="7152" spc="-32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DEBUG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36593"/>
            <a:ext cx="16736118" cy="11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4"/>
              </a:lnSpc>
              <a:spcBef>
                <a:spcPct val="0"/>
              </a:spcBef>
            </a:pPr>
            <a:r>
              <a:rPr lang="en-US" b="true" sz="6452" spc="-296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 BREAKPOINTS AVANT EXÉCUTION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828639" y="3984665"/>
            <a:ext cx="3315361" cy="735520"/>
            <a:chOff x="0" y="0"/>
            <a:chExt cx="4420481" cy="98069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420481" cy="980693"/>
              <a:chOff x="0" y="0"/>
              <a:chExt cx="1857986" cy="41219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857986" cy="412198"/>
              </a:xfrm>
              <a:custGeom>
                <a:avLst/>
                <a:gdLst/>
                <a:ahLst/>
                <a:cxnLst/>
                <a:rect r="r" b="b" t="t" l="l"/>
                <a:pathLst>
                  <a:path h="412198" w="1857986">
                    <a:moveTo>
                      <a:pt x="1654786" y="0"/>
                    </a:moveTo>
                    <a:cubicBezTo>
                      <a:pt x="1767010" y="0"/>
                      <a:pt x="1857986" y="92274"/>
                      <a:pt x="1857986" y="206099"/>
                    </a:cubicBezTo>
                    <a:cubicBezTo>
                      <a:pt x="1857986" y="319924"/>
                      <a:pt x="1767010" y="412198"/>
                      <a:pt x="1654786" y="412198"/>
                    </a:cubicBezTo>
                    <a:lnTo>
                      <a:pt x="203200" y="412198"/>
                    </a:lnTo>
                    <a:cubicBezTo>
                      <a:pt x="90976" y="412198"/>
                      <a:pt x="0" y="319924"/>
                      <a:pt x="0" y="206099"/>
                    </a:cubicBezTo>
                    <a:cubicBezTo>
                      <a:pt x="0" y="92274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1857986" cy="4407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46346" y="140661"/>
              <a:ext cx="4134413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si breakpoint à PC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8356" y="5658538"/>
            <a:ext cx="4744196" cy="1247354"/>
            <a:chOff x="0" y="0"/>
            <a:chExt cx="6325595" cy="166313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325595" cy="1663139"/>
              <a:chOff x="0" y="0"/>
              <a:chExt cx="2755156" cy="72439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755156" cy="724392"/>
              </a:xfrm>
              <a:custGeom>
                <a:avLst/>
                <a:gdLst/>
                <a:ahLst/>
                <a:cxnLst/>
                <a:rect r="r" b="b" t="t" l="l"/>
                <a:pathLst>
                  <a:path h="724392" w="2755156">
                    <a:moveTo>
                      <a:pt x="2551956" y="0"/>
                    </a:moveTo>
                    <a:cubicBezTo>
                      <a:pt x="2664180" y="0"/>
                      <a:pt x="2755156" y="162161"/>
                      <a:pt x="2755156" y="362196"/>
                    </a:cubicBezTo>
                    <a:cubicBezTo>
                      <a:pt x="2755156" y="562231"/>
                      <a:pt x="2664180" y="724392"/>
                      <a:pt x="2551956" y="724392"/>
                    </a:cubicBezTo>
                    <a:lnTo>
                      <a:pt x="203200" y="724392"/>
                    </a:lnTo>
                    <a:cubicBezTo>
                      <a:pt x="90976" y="724392"/>
                      <a:pt x="0" y="562231"/>
                      <a:pt x="0" y="362196"/>
                    </a:cubicBezTo>
                    <a:cubicBezTo>
                      <a:pt x="0" y="162161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2755156" cy="752967"/>
              </a:xfrm>
              <a:prstGeom prst="rect">
                <a:avLst/>
              </a:prstGeom>
            </p:spPr>
            <p:txBody>
              <a:bodyPr anchor="ctr" rtlCol="false" tIns="46077" lIns="46077" bIns="46077" rIns="46077"/>
              <a:lstStyle/>
              <a:p>
                <a:pPr algn="l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14213" y="206218"/>
              <a:ext cx="5897169" cy="1203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82"/>
                </a:lnSpc>
              </a:pPr>
              <a:r>
                <a:rPr lang="en-US" sz="2630" spc="-120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Avant d’exécuter l’instruction à PC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34814" y="3984665"/>
            <a:ext cx="4045134" cy="753444"/>
            <a:chOff x="0" y="0"/>
            <a:chExt cx="5393511" cy="100459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393511" cy="1004591"/>
              <a:chOff x="0" y="0"/>
              <a:chExt cx="2266963" cy="42224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266963" cy="422243"/>
              </a:xfrm>
              <a:custGeom>
                <a:avLst/>
                <a:gdLst/>
                <a:ahLst/>
                <a:cxnLst/>
                <a:rect r="r" b="b" t="t" l="l"/>
                <a:pathLst>
                  <a:path h="422243" w="2266963">
                    <a:moveTo>
                      <a:pt x="2063763" y="0"/>
                    </a:moveTo>
                    <a:cubicBezTo>
                      <a:pt x="2175988" y="0"/>
                      <a:pt x="2266963" y="94522"/>
                      <a:pt x="2266963" y="211121"/>
                    </a:cubicBezTo>
                    <a:cubicBezTo>
                      <a:pt x="2266963" y="327721"/>
                      <a:pt x="2175988" y="422243"/>
                      <a:pt x="2063763" y="422243"/>
                    </a:cubicBezTo>
                    <a:lnTo>
                      <a:pt x="203200" y="422243"/>
                    </a:lnTo>
                    <a:cubicBezTo>
                      <a:pt x="90976" y="422243"/>
                      <a:pt x="0" y="327721"/>
                      <a:pt x="0" y="211121"/>
                    </a:cubicBezTo>
                    <a:cubicBezTo>
                      <a:pt x="0" y="94522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266963" cy="4508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93203" y="140661"/>
              <a:ext cx="4687619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pause + stop run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38120" y="331653"/>
              <a:ext cx="4687619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9144000" y="4352425"/>
            <a:ext cx="1290814" cy="8962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10301647" y="7572642"/>
            <a:ext cx="5108651" cy="896835"/>
            <a:chOff x="0" y="0"/>
            <a:chExt cx="2862977" cy="5026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62977" cy="502602"/>
            </a:xfrm>
            <a:custGeom>
              <a:avLst/>
              <a:gdLst/>
              <a:ahLst/>
              <a:cxnLst/>
              <a:rect r="r" b="b" t="t" l="l"/>
              <a:pathLst>
                <a:path h="502602" w="2862977">
                  <a:moveTo>
                    <a:pt x="2659777" y="0"/>
                  </a:moveTo>
                  <a:cubicBezTo>
                    <a:pt x="2772001" y="0"/>
                    <a:pt x="2862977" y="112511"/>
                    <a:pt x="2862977" y="251301"/>
                  </a:cubicBezTo>
                  <a:cubicBezTo>
                    <a:pt x="2862977" y="390091"/>
                    <a:pt x="2772001" y="502602"/>
                    <a:pt x="2659777" y="502602"/>
                  </a:cubicBezTo>
                  <a:lnTo>
                    <a:pt x="203200" y="502602"/>
                  </a:lnTo>
                  <a:cubicBezTo>
                    <a:pt x="90976" y="502602"/>
                    <a:pt x="0" y="390091"/>
                    <a:pt x="0" y="251301"/>
                  </a:cubicBezTo>
                  <a:cubicBezTo>
                    <a:pt x="0" y="112511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  <a:ln w="476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862977" cy="531177"/>
            </a:xfrm>
            <a:prstGeom prst="rect">
              <a:avLst/>
            </a:prstGeom>
          </p:spPr>
          <p:txBody>
            <a:bodyPr anchor="ctr" rtlCol="false" tIns="47748" lIns="47748" bIns="47748" rIns="47748"/>
            <a:lstStyle/>
            <a:p>
              <a:pPr algn="r">
                <a:lnSpc>
                  <a:spcPts val="2487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603829" y="7538587"/>
            <a:ext cx="4806469" cy="93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6"/>
              </a:lnSpc>
              <a:spcBef>
                <a:spcPct val="0"/>
              </a:spcBef>
            </a:pPr>
            <a:r>
              <a:rPr lang="en-US" sz="2725" spc="-12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exécute 1 instruction puis pause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95143" y="5752127"/>
            <a:ext cx="286088" cy="45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6"/>
              </a:lnSpc>
              <a:spcBef>
                <a:spcPct val="0"/>
              </a:spcBef>
            </a:pPr>
          </a:p>
        </p:txBody>
      </p:sp>
      <p:sp>
        <p:nvSpPr>
          <p:cNvPr name="AutoShape 31" id="31"/>
          <p:cNvSpPr/>
          <p:nvPr/>
        </p:nvSpPr>
        <p:spPr>
          <a:xfrm>
            <a:off x="9101302" y="7975959"/>
            <a:ext cx="1200345" cy="4510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 flipV="true">
            <a:off x="5192552" y="4352425"/>
            <a:ext cx="636087" cy="172909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3" id="33"/>
          <p:cNvGrpSpPr/>
          <p:nvPr/>
        </p:nvGrpSpPr>
        <p:grpSpPr>
          <a:xfrm rot="0">
            <a:off x="5776586" y="7572642"/>
            <a:ext cx="3315361" cy="689444"/>
            <a:chOff x="0" y="0"/>
            <a:chExt cx="4420481" cy="919258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4420481" cy="919258"/>
              <a:chOff x="0" y="0"/>
              <a:chExt cx="1857986" cy="38637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857986" cy="386376"/>
              </a:xfrm>
              <a:custGeom>
                <a:avLst/>
                <a:gdLst/>
                <a:ahLst/>
                <a:cxnLst/>
                <a:rect r="r" b="b" t="t" l="l"/>
                <a:pathLst>
                  <a:path h="386376" w="1857986">
                    <a:moveTo>
                      <a:pt x="1654786" y="0"/>
                    </a:moveTo>
                    <a:cubicBezTo>
                      <a:pt x="1767010" y="0"/>
                      <a:pt x="1857986" y="86493"/>
                      <a:pt x="1857986" y="193188"/>
                    </a:cubicBezTo>
                    <a:cubicBezTo>
                      <a:pt x="1857986" y="299883"/>
                      <a:pt x="1767010" y="386376"/>
                      <a:pt x="1654786" y="386376"/>
                    </a:cubicBezTo>
                    <a:lnTo>
                      <a:pt x="203200" y="386376"/>
                    </a:lnTo>
                    <a:cubicBezTo>
                      <a:pt x="90976" y="386376"/>
                      <a:pt x="0" y="299883"/>
                      <a:pt x="0" y="193188"/>
                    </a:cubicBezTo>
                    <a:cubicBezTo>
                      <a:pt x="0" y="86493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FCDFF">
                      <a:alpha val="0"/>
                    </a:srgbClr>
                  </a:gs>
                  <a:gs pos="100000">
                    <a:srgbClr val="3964CD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1857986" cy="4149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81712" y="140661"/>
              <a:ext cx="4005933" cy="590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16"/>
                </a:lnSpc>
                <a:spcBef>
                  <a:spcPct val="0"/>
                </a:spcBef>
              </a:pPr>
              <a:r>
                <a:rPr lang="en-US" sz="2725" spc="-125">
                  <a:solidFill>
                    <a:srgbClr val="EBF5FE"/>
                  </a:solidFill>
                  <a:latin typeface="Garet"/>
                  <a:ea typeface="Garet"/>
                  <a:cs typeface="Garet"/>
                  <a:sym typeface="Garet"/>
                </a:rPr>
                <a:t>Step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5192552" y="6282215"/>
            <a:ext cx="584034" cy="163514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8354">
            <a:off x="10731369" y="-42357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84291" y="901942"/>
            <a:ext cx="475009" cy="475009"/>
          </a:xfrm>
          <a:custGeom>
            <a:avLst/>
            <a:gdLst/>
            <a:ahLst/>
            <a:cxnLst/>
            <a:rect r="r" b="b" t="t" l="l"/>
            <a:pathLst>
              <a:path h="475009" w="475009">
                <a:moveTo>
                  <a:pt x="0" y="0"/>
                </a:moveTo>
                <a:lnTo>
                  <a:pt x="475009" y="0"/>
                </a:lnTo>
                <a:lnTo>
                  <a:pt x="475009" y="475009"/>
                </a:lnTo>
                <a:lnTo>
                  <a:pt x="0" y="4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70360" y="8863664"/>
            <a:ext cx="1188940" cy="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1777" spc="-81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page 024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72636"/>
            <a:ext cx="17259300" cy="1218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14"/>
              </a:lnSpc>
              <a:spcBef>
                <a:spcPct val="0"/>
              </a:spcBef>
            </a:pPr>
            <a:r>
              <a:rPr lang="en-US" sz="7152" spc="-329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UI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436593"/>
            <a:ext cx="16736118" cy="11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4"/>
              </a:lnSpc>
              <a:spcBef>
                <a:spcPct val="0"/>
              </a:spcBef>
            </a:pPr>
            <a:r>
              <a:rPr lang="en-US" b="true" sz="6452" spc="-296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SNAPSHOTS ET RAFRAÎCHISSEMENT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954113"/>
            <a:ext cx="12060574" cy="94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  <a:spcBef>
                <a:spcPct val="0"/>
              </a:spcBef>
            </a:pPr>
            <a:r>
              <a:rPr lang="en-US" sz="2777" spc="-12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CPU tourne sur un thread dédié, après chaque step/run :</a:t>
            </a:r>
          </a:p>
          <a:p>
            <a:pPr algn="l">
              <a:lnSpc>
                <a:spcPts val="3887"/>
              </a:lnSpc>
              <a:spcBef>
                <a:spcPct val="0"/>
              </a:spcBef>
            </a:pPr>
            <a:r>
              <a:rPr lang="en-US" sz="2777" spc="-12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    CpuStateSnapshot (registres + flags + cycles + lastInstruction)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321900"/>
            <a:ext cx="473273" cy="46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  <a:spcBef>
                <a:spcPct val="0"/>
              </a:spcBef>
            </a:pPr>
            <a:r>
              <a:rPr lang="en-US" sz="2777" spc="-127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UI 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01973" y="6003862"/>
            <a:ext cx="986337" cy="619092"/>
            <a:chOff x="0" y="0"/>
            <a:chExt cx="1315116" cy="82545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671570" y="6019415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met à jour les champs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71570" y="6930760"/>
            <a:ext cx="7803268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rafraîchit RAM/ROM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01973" y="6792327"/>
            <a:ext cx="986337" cy="619092"/>
            <a:chOff x="0" y="0"/>
            <a:chExt cx="1315116" cy="82545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01973" y="7580792"/>
            <a:ext cx="986337" cy="619092"/>
            <a:chOff x="0" y="0"/>
            <a:chExt cx="1315116" cy="825456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315116" cy="825456"/>
              <a:chOff x="0" y="0"/>
              <a:chExt cx="647476" cy="406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4747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647476">
                    <a:moveTo>
                      <a:pt x="444276" y="0"/>
                    </a:moveTo>
                    <a:cubicBezTo>
                      <a:pt x="556500" y="0"/>
                      <a:pt x="647476" y="90976"/>
                      <a:pt x="647476" y="203200"/>
                    </a:cubicBezTo>
                    <a:cubicBezTo>
                      <a:pt x="647476" y="315424"/>
                      <a:pt x="556500" y="406400"/>
                      <a:pt x="44427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284FF">
                      <a:alpha val="100000"/>
                    </a:srgbClr>
                  </a:gs>
                  <a:gs pos="100000">
                    <a:srgbClr val="000422">
                      <a:alpha val="100000"/>
                    </a:srgbClr>
                  </a:gs>
                </a:gsLst>
                <a:lin ang="0"/>
              </a:gradFill>
              <a:ln w="476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647476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87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51859" y="109815"/>
              <a:ext cx="811398" cy="55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1"/>
                </a:lnSpc>
                <a:spcBef>
                  <a:spcPct val="0"/>
                </a:spcBef>
              </a:pPr>
              <a:r>
                <a:rPr lang="en-US" b="true" sz="2550" spc="-117">
                  <a:solidFill>
                    <a:srgbClr val="EBF5FE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671570" y="7719225"/>
            <a:ext cx="8841554" cy="4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b="true" sz="2650" spc="-121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console logs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284FF">
                <a:alpha val="100000"/>
              </a:srgbClr>
            </a:gs>
            <a:gs pos="100000">
              <a:srgbClr val="00042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407285">
            <a:off x="3958143" y="-42357"/>
            <a:ext cx="10371714" cy="10371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0407285">
            <a:off x="5022604" y="1560424"/>
            <a:ext cx="7560380" cy="756038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0"/>
                  </a:srgbClr>
                </a:gs>
                <a:gs pos="100000">
                  <a:srgbClr val="3964C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1858376"/>
            <a:ext cx="6442371" cy="6726915"/>
          </a:xfrm>
          <a:custGeom>
            <a:avLst/>
            <a:gdLst/>
            <a:ahLst/>
            <a:cxnLst/>
            <a:rect r="r" b="b" t="t" l="l"/>
            <a:pathLst>
              <a:path h="6726915" w="6442371">
                <a:moveTo>
                  <a:pt x="0" y="0"/>
                </a:moveTo>
                <a:lnTo>
                  <a:pt x="6442371" y="0"/>
                </a:lnTo>
                <a:lnTo>
                  <a:pt x="6442371" y="6726915"/>
                </a:lnTo>
                <a:lnTo>
                  <a:pt x="0" y="6726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98760" y="4198005"/>
            <a:ext cx="7690481" cy="175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69"/>
              </a:lnSpc>
              <a:spcBef>
                <a:spcPct val="0"/>
              </a:spcBef>
            </a:pPr>
            <a:r>
              <a:rPr lang="en-US" sz="10335" spc="-475">
                <a:solidFill>
                  <a:srgbClr val="EBF5FE"/>
                </a:solidFill>
                <a:latin typeface="Garet"/>
                <a:ea typeface="Garet"/>
                <a:cs typeface="Garet"/>
                <a:sym typeface="Garet"/>
              </a:rPr>
              <a:t>THANK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98760" y="5472877"/>
            <a:ext cx="7690481" cy="175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69"/>
              </a:lnSpc>
              <a:spcBef>
                <a:spcPct val="0"/>
              </a:spcBef>
            </a:pPr>
            <a:r>
              <a:rPr lang="en-US" b="true" sz="10335" spc="-475">
                <a:solidFill>
                  <a:srgbClr val="EBF5FE"/>
                </a:solidFill>
                <a:latin typeface="Garet Bold"/>
                <a:ea typeface="Garet Bold"/>
                <a:cs typeface="Garet Bold"/>
                <a:sym typeface="Garet Bold"/>
              </a:rPr>
              <a:t>YOU.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12361310" y="1699773"/>
            <a:ext cx="6442371" cy="6726915"/>
          </a:xfrm>
          <a:custGeom>
            <a:avLst/>
            <a:gdLst/>
            <a:ahLst/>
            <a:cxnLst/>
            <a:rect r="r" b="b" t="t" l="l"/>
            <a:pathLst>
              <a:path h="6726915" w="6442371">
                <a:moveTo>
                  <a:pt x="6442371" y="0"/>
                </a:moveTo>
                <a:lnTo>
                  <a:pt x="0" y="0"/>
                </a:lnTo>
                <a:lnTo>
                  <a:pt x="0" y="6726915"/>
                </a:lnTo>
                <a:lnTo>
                  <a:pt x="6442371" y="6726915"/>
                </a:lnTo>
                <a:lnTo>
                  <a:pt x="6442371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DAG8ftAohso</dc:identifier>
  <dcterms:modified xsi:type="dcterms:W3CDTF">2011-08-01T06:04:30Z</dcterms:modified>
  <cp:revision>1</cp:revision>
  <dc:title>Navy Gradient Futuristic Computer Science Presentation</dc:title>
</cp:coreProperties>
</file>